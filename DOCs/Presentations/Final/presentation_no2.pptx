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26"/>
  </p:notesMasterIdLst>
  <p:handoutMasterIdLst>
    <p:handoutMasterId r:id="rId27"/>
  </p:handoutMasterIdLst>
  <p:sldIdLst>
    <p:sldId id="256" r:id="rId4"/>
    <p:sldId id="262" r:id="rId5"/>
    <p:sldId id="396" r:id="rId6"/>
    <p:sldId id="261" r:id="rId7"/>
    <p:sldId id="398" r:id="rId8"/>
    <p:sldId id="378" r:id="rId9"/>
    <p:sldId id="397" r:id="rId10"/>
    <p:sldId id="270" r:id="rId11"/>
    <p:sldId id="379" r:id="rId12"/>
    <p:sldId id="402" r:id="rId13"/>
    <p:sldId id="401" r:id="rId14"/>
    <p:sldId id="403" r:id="rId15"/>
    <p:sldId id="399" r:id="rId16"/>
    <p:sldId id="410" r:id="rId17"/>
    <p:sldId id="406" r:id="rId18"/>
    <p:sldId id="404" r:id="rId19"/>
    <p:sldId id="407" r:id="rId20"/>
    <p:sldId id="405" r:id="rId21"/>
    <p:sldId id="408" r:id="rId22"/>
    <p:sldId id="394" r:id="rId23"/>
    <p:sldId id="409" r:id="rId24"/>
    <p:sldId id="260" r:id="rId25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6FF85E-3923-46B0-ABC8-7AD5F5DDE9B2}">
          <p14:sldIdLst>
            <p14:sldId id="256"/>
            <p14:sldId id="262"/>
            <p14:sldId id="396"/>
            <p14:sldId id="261"/>
            <p14:sldId id="398"/>
            <p14:sldId id="378"/>
            <p14:sldId id="397"/>
            <p14:sldId id="270"/>
            <p14:sldId id="379"/>
            <p14:sldId id="402"/>
            <p14:sldId id="401"/>
            <p14:sldId id="403"/>
            <p14:sldId id="399"/>
            <p14:sldId id="410"/>
            <p14:sldId id="406"/>
            <p14:sldId id="404"/>
            <p14:sldId id="407"/>
            <p14:sldId id="405"/>
            <p14:sldId id="408"/>
            <p14:sldId id="394"/>
            <p14:sldId id="409"/>
            <p14:sldId id="260"/>
          </p14:sldIdLst>
        </p14:section>
        <p14:section name="Draft" id="{B3CF19BF-2179-4ACD-85FB-A2F9C4E0F2B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85472" autoAdjust="0"/>
  </p:normalViewPr>
  <p:slideViewPr>
    <p:cSldViewPr snapToGrid="0">
      <p:cViewPr varScale="1">
        <p:scale>
          <a:sx n="94" d="100"/>
          <a:sy n="94" d="100"/>
        </p:scale>
        <p:origin x="1050" y="96"/>
      </p:cViewPr>
      <p:guideLst>
        <p:guide orient="horz" pos="247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A8B71-175C-40AE-8920-40E8F75A0C0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B370-9BD9-4B64-BD5A-50BE0AFCE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77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07:33:07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16364 5279 5023 0 0,'4'-9'3008'0'0,"-2"-8"672"0"0,-7-2-3392 0 0,-2-1-224 0 0,-5 3-64 0 0,-5 3-64 0 0,-4 5 64 0 0,-4 8-64 0 0,-1 5 64 0 0,-7 1 0 0 0,-1 5-32 0 0,-5 0 32 0 0,-1 4 32 0 0,-2-1-64 0 0,-4 2 32 0 0,2-2 0 0 0,-2 2-32 0 0,-1-1 32 0 0,-8 1-32 0 0,-3 2 32 0 0,-2 4 0 0 0,-4-2 0 0 0,-1 5 0 0 0,-17 8 0 0 0,-4 8 0 0 0,3 1 0 0 0,7-1 32 0 0,11 2-64 0 0,12-1 32 0 0,6-4 0 0 0,6-3 0 0 0,10 2 0 0 0,5 0 32 0 0,4-7-32 0 0,-1-3 0 0 0,5-1 0 0 0,4-1 0 0 0,1-4 0 0 0,3-10 704 0 0,2-12-544 0 0,3-10-96 0 0,2-7 0 0 0,2-11 0 0 0,5-4-64 0 0,3-5 32 0 0,-1-7 0 0 0,0-4-32 0 0,2 2 0 0 0,1 4 32 0 0,-2 5-32 0 0,-1 5 32 0 0,-3 3-32 0 0,-1 2 0 0 0,-1 11-256 0 0,-6 13 192 0 0,-1 12 64 0 0,-5 10-32 0 0,0 11 0 0 0,-4 10 32 0 0,2 8-32 0 0,-2 5 32 0 0,1 4 0 0 0,4 2 0 0 0,-2 0 0 0 0,-3 0 0 0 0,0-5 0 0 0,4-7 0 0 0,-2-6 0 0 0,2-5 0 0 0,3-4 0 0 0,2-2 64 0 0,7-6 192 0 0,4-11-160 0 0,5-8-32 0 0,10-4-32 0 0,7-7 32 0 0,8-6-64 0 0,3-6 32 0 0,4-4 0 0 0,4 2-32 0 0,4 0 0 0 0,-2 4 0 0 0,-5 0 0 0 0,1 3 0 0 0,-9 0 32 0 0,-4 2-32 0 0,-4 4 0 0 0,-1 2 0 0 0,-5 8-544 0 0,-6 4 544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07:33:07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9880 14388 8063 0 0,'-5'0'224'0'0,"-6"0"-96"0"0,4 0 3904 0 0,7-5-3904 0 0,8-1-96 0 0,13-5-32 0 0,12-4 0 0 0,9-1 32 0 0,7-1-32 0 0,5-4 32 0 0,7 3 0 0 0,7 0-32 0 0,7 2 0 0 0,8 4 32 0 0,5 0-32 0 0,1 2 32 0 0,-6 2-32 0 0,-1-2 0 0 0,2 1 32 0 0,2 2 0 0 0,5-3-32 0 0,1 0 0 0 0,-2 3 0 0 0,-1 1 0 0 0,-2 3 0 0 0,-7 1 32 0 0,-7 2-32 0 0,-7 4 0 0 0,-6 3 0 0 0,-7-1 0 0 0,-9 4 0 0 0,-7 0 0 0 0,-5-2 0 0 0,-3-2 0 0 0,-12-2 192 0 0,-13-2-192 0 0,-12-5 32 0 0,-9-3-32 0 0,-6-5 0 0 0,-5-5 0 0 0,-1 0 32 0 0,-1-2-32 0 0,0-3 0 0 0,0-2 32 0 0,6-2 96 0 0,11 4-96 0 0,13 4 0 0 0,11 6-32 0 0,8 5 0 0 0,5-2 0 0 0,4 1 0 0 0,2 2 0 0 0,5 1-32 0 0,1 2 32 0 0,3 0 32 0 0,6 7-64 0 0,3 1 32 0 0,4 5 32 0 0,-3 0-64 0 0,-5 3 32 0 0,0 0 32 0 0,-4 1-32 0 0,-3-1 0 0 0,-4 1 0 0 0,-2 3 0 0 0,-12-2-96 0 0,-13-3 96 0 0,-13 1 0 0 0,-14-3 32 0 0,-8 3-32 0 0,-9-3 0 0 0,-3-1 0 0 0,2-4 0 0 0,2 2 0 0 0,3 0 0 0 0,2-1 0 0 0,3-3 0 0 0,1-1 160 0 0,5-6-160 0 0,7-7 64 0 0,6-7-64 0 0,4-5 0 0 0,4-3 0 0 0,2-2 0 0 0,1-2 32 0 0,0 9-128 0 0,-4 13 96 0 0,-2 13 0 0 0,-1 8 0 0 0,7 4 32 0 0,2-3-32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07:33:07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13473 14050 9599 0 0,'0'-5'2720'0'0,"4"-1"-2624"0"0,7-5-64 0 0,11 0 0 0 0,5-3-32 0 0,9-3 0 0 0,2-5 32 0 0,4 3-32 0 0,5-1 0 0 0,-2-1 32 0 0,2-3-32 0 0,1 4 0 0 0,7 0 0 0 0,8-1 32 0 0,13 3-32 0 0,6 0 0 0 0,4-2 32 0 0,1 3-32 0 0,0-1 0 0 0,-1 3 32 0 0,4 0-32 0 0,1 1 0 0 0,-2 4 0 0 0,-2 4 0 0 0,-1 2 0 0 0,-1 2 0 0 0,-2 7 0 0 0,-5 1 0 0 0,-6 5 0 0 0,-7 1 0 0 0,-5 3 0 0 0,-2 3 32 0 0,-8 4-32 0 0,-2-3 0 0 0,-5 1 0 0 0,-10 2 0 0 0,-5-4 0 0 0,-3-4 0 0 0,-6 0 32 0 0,-11-2 0 0 0,-7-9-32 0 0,-8-4 0 0 0,-7-6 32 0 0,-7-3-32 0 0,-3-4 32 0 0,-4-9 0 0 0,0-5-32 0 0,3-2 0 0 0,2-2 32 0 0,1 1-32 0 0,-2 1 0 0 0,4 0 0 0 0,1 2 0 0 0,3-1 0 0 0,9 6 32 0 0,6 12-32 0 0,8 6 0 0 0,7 5 0 0 0,6 8 0 0 0,4 1 32 0 0,8 0-32 0 0,2 3 0 0 0,6-1 32 0 0,0 3-64 0 0,3-2 64 0 0,-2 3-32 0 0,2 3 0 0 0,3-2 0 0 0,-1 2 0 0 0,-5 1 0 0 0,-3-1 0 0 0,-4 0 0 0 0,-8 2-32 0 0,-12 2 0 0 0,-13 3 32 0 0,-12 0 32 0 0,-12 2-32 0 0,-8 1 0 0 0,-7 0 0 0 0,-2-1 0 0 0,2-3 0 0 0,7-3 0 0 0,4-4 0 0 0,3 0 0 0 0,0-3 0 0 0,1-5 32 0 0,-2-7 128 0 0,5-10-64 0 0,10-3-96 0 0,7-4 32 0 0,5-4 0 0 0,5-4-32 0 0,4-3 32 0 0,-2-1-32 0 0,-1-1 0 0 0,-2 0 32 0 0,3 4-32 0 0,0 11-64 0 0,-2 13 64 0 0,4 6-352 0 0,-1 6 256 0 0,-1 2 96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E2AAB-BD09-49B7-AC2E-CB1F57E687F5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A5179-D280-489B-A10C-521E775C6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513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47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2602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0B2D8-8D85-6F98-016C-FA69032AE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03588-BF10-6D31-4F35-46D48C9EF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A1470-FA22-FE0E-B60A-9932D4D7D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67459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why it is important to fix </a:t>
            </a:r>
          </a:p>
        </p:txBody>
      </p:sp>
    </p:spTree>
    <p:extLst>
      <p:ext uri="{BB962C8B-B14F-4D97-AF65-F5344CB8AC3E}">
        <p14:creationId xmlns:p14="http://schemas.microsoft.com/office/powerpoint/2010/main" val="777309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So a beginner farmer needs to spend valuable time with experienced farmers in order to get the prediction of the yield right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What if the beginner farmer used magic?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He will has some benefits right?</a:t>
            </a:r>
          </a:p>
        </p:txBody>
      </p:sp>
    </p:spTree>
    <p:extLst>
      <p:ext uri="{BB962C8B-B14F-4D97-AF65-F5344CB8AC3E}">
        <p14:creationId xmlns:p14="http://schemas.microsoft.com/office/powerpoint/2010/main" val="2320539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084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so many features and here are some of them</a:t>
            </a:r>
            <a:br>
              <a:rPr lang="en-US" dirty="0"/>
            </a:br>
            <a:r>
              <a:rPr lang="en-US" dirty="0"/>
              <a:t>, and ofc we removed some of the features like farm id and sensor id</a:t>
            </a:r>
          </a:p>
        </p:txBody>
      </p:sp>
    </p:spTree>
    <p:extLst>
      <p:ext uri="{BB962C8B-B14F-4D97-AF65-F5344CB8AC3E}">
        <p14:creationId xmlns:p14="http://schemas.microsoft.com/office/powerpoint/2010/main" val="1720498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 we got the dataset and we understand it well</a:t>
            </a:r>
            <a:br>
              <a:rPr lang="en-US" dirty="0"/>
            </a:br>
            <a:r>
              <a:rPr lang="en-US" dirty="0"/>
              <a:t>the next step is to clean the data before using it</a:t>
            </a:r>
          </a:p>
        </p:txBody>
      </p:sp>
    </p:spTree>
    <p:extLst>
      <p:ext uri="{BB962C8B-B14F-4D97-AF65-F5344CB8AC3E}">
        <p14:creationId xmlns:p14="http://schemas.microsoft.com/office/powerpoint/2010/main" val="3051699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Weather is a root</a:t>
            </a:r>
            <a:br>
              <a:rPr lang="en-US" dirty="0"/>
            </a:br>
            <a:r>
              <a:rPr lang="en-US" dirty="0" err="1"/>
              <a:t>Walk,Bus</a:t>
            </a:r>
            <a:r>
              <a:rPr lang="en-US" dirty="0"/>
              <a:t> are </a:t>
            </a:r>
            <a:r>
              <a:rPr lang="en-US" b="1" dirty="0"/>
              <a:t>leaves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4305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1 - </a:t>
            </a:r>
            <a:r>
              <a:rPr lang="en-US" sz="1200" dirty="0">
                <a:ea typeface="+mn-lt"/>
                <a:cs typeface="+mn-lt"/>
              </a:rPr>
              <a:t>Highlights large errors. </a:t>
            </a:r>
          </a:p>
          <a:p>
            <a:r>
              <a:rPr lang="en-US" sz="1200" dirty="0">
                <a:ea typeface="+mn-lt"/>
                <a:cs typeface="+mn-lt"/>
              </a:rPr>
              <a:t>2- Higher values → model fits data better.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497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make the points fits to the linear line, we have to improve the data quality</a:t>
            </a:r>
          </a:p>
        </p:txBody>
      </p:sp>
    </p:spTree>
    <p:extLst>
      <p:ext uri="{BB962C8B-B14F-4D97-AF65-F5344CB8AC3E}">
        <p14:creationId xmlns:p14="http://schemas.microsoft.com/office/powerpoint/2010/main" val="1840836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could get only 4 values with a 100% accuracy</a:t>
            </a:r>
          </a:p>
          <a:p>
            <a:r>
              <a:rPr lang="en-US" dirty="0"/>
              <a:t>And got 7 values with a difference equal to -1000</a:t>
            </a:r>
          </a:p>
        </p:txBody>
      </p:sp>
    </p:spTree>
    <p:extLst>
      <p:ext uri="{BB962C8B-B14F-4D97-AF65-F5344CB8AC3E}">
        <p14:creationId xmlns:p14="http://schemas.microsoft.com/office/powerpoint/2010/main" val="815604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dominating feature is the soil moisture followed by the rainfall</a:t>
            </a:r>
            <a:br>
              <a:rPr lang="en-US" dirty="0"/>
            </a:br>
            <a:r>
              <a:rPr lang="en-US" dirty="0"/>
              <a:t>and the last one is </a:t>
            </a:r>
            <a:r>
              <a:rPr lang="en-US" dirty="0" err="1"/>
              <a:t>NDVI_index</a:t>
            </a:r>
            <a:r>
              <a:rPr lang="en-US" dirty="0"/>
              <a:t> 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Normalized Difference Vegetation Index) measures the crop health and it ranges from 0.3 to 0.9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523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711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F2011-9EC0-D973-9013-760D971AF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C463E-D40E-E610-980F-F8FCA57A3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BE806-9F23-96C5-E8E8-58DA52429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90250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558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02773" y="0"/>
            <a:ext cx="399448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0308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29946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2" y="1172225"/>
            <a:ext cx="1752061" cy="2847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09" y="3265847"/>
            <a:ext cx="1244874" cy="75347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225797" y="-1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3819099" y="0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24961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71" y="3300747"/>
            <a:ext cx="1802732" cy="29294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8C9E44-F775-0EC3-B9FD-CF5FCF546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2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65783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31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9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-1"/>
            <a:ext cx="577378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5773782" y="0"/>
            <a:ext cx="641821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DCCFA14-78AF-484A-B03D-5DB9A526DD68}"/>
              </a:ext>
            </a:extLst>
          </p:cNvPr>
          <p:cNvGrpSpPr/>
          <p:nvPr userDrawn="1"/>
        </p:nvGrpSpPr>
        <p:grpSpPr>
          <a:xfrm rot="10800000">
            <a:off x="4421055" y="393901"/>
            <a:ext cx="720080" cy="720080"/>
            <a:chOff x="546346" y="5762189"/>
            <a:chExt cx="720080" cy="72008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6B0EC3-E080-4BA9-82DD-875CE375664B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BE3A08B-D0A8-4636-B024-860C87DFA350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53B918C-F2E3-458F-9073-6D6E6D7F58A6}"/>
              </a:ext>
            </a:extLst>
          </p:cNvPr>
          <p:cNvGrpSpPr/>
          <p:nvPr userDrawn="1"/>
        </p:nvGrpSpPr>
        <p:grpSpPr>
          <a:xfrm>
            <a:off x="546346" y="5762189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ABB30E9-0DAA-4772-8CC5-A6FEC253E5AF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41DDE2A-7C54-4715-8C70-DAACF06648DA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F0C1B44-4166-729B-49F6-FB1A5028A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3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6477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236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781047" y="260648"/>
            <a:ext cx="5952661" cy="63367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34769" y="1196752"/>
            <a:ext cx="10849205" cy="345638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2A4CB6F-7C9C-4340-8102-6603FA2A78DA}"/>
              </a:ext>
            </a:extLst>
          </p:cNvPr>
          <p:cNvGrpSpPr/>
          <p:nvPr userDrawn="1"/>
        </p:nvGrpSpPr>
        <p:grpSpPr>
          <a:xfrm rot="16200000">
            <a:off x="10717958" y="5625244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8678E57-298A-4132-B4F7-BE72C9826DD2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C84B1A6-ADB3-465D-B651-2B4F073AD8AB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88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948984" y="1526647"/>
            <a:ext cx="4186909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22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7056108" y="1526647"/>
            <a:ext cx="4175763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0AAFB73F-6F54-464A-BD52-927273969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816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5" name="Rectangle 4"/>
          <p:cNvSpPr/>
          <p:nvPr userDrawn="1"/>
        </p:nvSpPr>
        <p:spPr>
          <a:xfrm>
            <a:off x="7056000" y="766354"/>
            <a:ext cx="5136000" cy="6091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96921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3681556" y="4363"/>
            <a:ext cx="350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0" y="0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0" y="3501008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5C9FD68-7835-4F80-BE0C-09C5D602A481}"/>
              </a:ext>
            </a:extLst>
          </p:cNvPr>
          <p:cNvGrpSpPr/>
          <p:nvPr userDrawn="1"/>
        </p:nvGrpSpPr>
        <p:grpSpPr>
          <a:xfrm rot="10800000">
            <a:off x="11114869" y="393901"/>
            <a:ext cx="720080" cy="720080"/>
            <a:chOff x="546346" y="5762189"/>
            <a:chExt cx="720080" cy="720080"/>
          </a:xfrm>
          <a:solidFill>
            <a:schemeClr val="accent1"/>
          </a:solidFill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16EA3C4-78F0-44A2-B310-C44774DC3C19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EE6D61C-1E71-469D-A9B7-45E08AADB14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06932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18000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18000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26423" y="2528900"/>
            <a:ext cx="11739154" cy="18002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622080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ection Break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063200" y="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12640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063200" y="4572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063200" y="2276872"/>
            <a:ext cx="4063200" cy="23042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537417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19402" y="539930"/>
            <a:ext cx="1072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lt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827363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189682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2000" y="2683988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827363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549682" y="686435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912000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D52D9725-5E74-4328-843E-D6EDA8CEAF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16" name="Rectangle 8">
            <a:extLst>
              <a:ext uri="{FF2B5EF4-FFF2-40B4-BE49-F238E27FC236}">
                <a16:creationId xmlns:a16="http://schemas.microsoft.com/office/drawing/2014/main" id="{58CC9FFD-2DE0-441F-93AA-99A732D2BFA8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434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16828" y="3486206"/>
            <a:ext cx="6408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9420597" y="3486206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20597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6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2894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5072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7244655" y="1"/>
            <a:ext cx="2052000" cy="6857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9190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6093413" y="-1"/>
            <a:ext cx="6096001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4533269" y="1150261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그림 개체 틀 2"/>
          <p:cNvSpPr>
            <a:spLocks noGrp="1"/>
          </p:cNvSpPr>
          <p:nvPr>
            <p:ph type="pic" sz="quarter" idx="61" hasCustomPrompt="1"/>
          </p:nvPr>
        </p:nvSpPr>
        <p:spPr>
          <a:xfrm>
            <a:off x="4533269" y="4561207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그림 개체 틀 2"/>
          <p:cNvSpPr>
            <a:spLocks noGrp="1"/>
          </p:cNvSpPr>
          <p:nvPr>
            <p:ph type="pic" sz="quarter" idx="63" hasCustomPrompt="1"/>
          </p:nvPr>
        </p:nvSpPr>
        <p:spPr>
          <a:xfrm>
            <a:off x="2883891" y="551019"/>
            <a:ext cx="1548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그림 개체 틀 2"/>
          <p:cNvSpPr>
            <a:spLocks noGrp="1"/>
          </p:cNvSpPr>
          <p:nvPr>
            <p:ph type="pic" sz="quarter" idx="64" hasCustomPrompt="1"/>
          </p:nvPr>
        </p:nvSpPr>
        <p:spPr>
          <a:xfrm>
            <a:off x="2883891" y="3012492"/>
            <a:ext cx="1548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65" hasCustomPrompt="1"/>
          </p:nvPr>
        </p:nvSpPr>
        <p:spPr>
          <a:xfrm>
            <a:off x="0" y="2321756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그림 개체 틀 2"/>
          <p:cNvSpPr>
            <a:spLocks noGrp="1"/>
          </p:cNvSpPr>
          <p:nvPr>
            <p:ph type="pic" sz="quarter" idx="66" hasCustomPrompt="1"/>
          </p:nvPr>
        </p:nvSpPr>
        <p:spPr>
          <a:xfrm>
            <a:off x="2890419" y="4393964"/>
            <a:ext cx="1548000" cy="19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그림 개체 틀 2"/>
          <p:cNvSpPr>
            <a:spLocks noGrp="1"/>
          </p:cNvSpPr>
          <p:nvPr>
            <p:ph type="pic" sz="quarter" idx="67" hasCustomPrompt="1"/>
          </p:nvPr>
        </p:nvSpPr>
        <p:spPr>
          <a:xfrm>
            <a:off x="4533269" y="2855734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그림 개체 틀 2"/>
          <p:cNvSpPr>
            <a:spLocks noGrp="1"/>
          </p:cNvSpPr>
          <p:nvPr>
            <p:ph type="pic" sz="quarter" idx="68" hasCustomPrompt="1"/>
          </p:nvPr>
        </p:nvSpPr>
        <p:spPr>
          <a:xfrm>
            <a:off x="0" y="3703228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2DF790-5B61-453C-8A68-DE24F826568C}"/>
              </a:ext>
            </a:extLst>
          </p:cNvPr>
          <p:cNvGrpSpPr/>
          <p:nvPr userDrawn="1"/>
        </p:nvGrpSpPr>
        <p:grpSpPr>
          <a:xfrm rot="16200000">
            <a:off x="11112593" y="5798497"/>
            <a:ext cx="720080" cy="720080"/>
            <a:chOff x="546346" y="5762189"/>
            <a:chExt cx="720080" cy="72008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103BBEB-185D-4042-834B-B0F785AAD3C1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FCF08F-D939-4B33-B561-5EED914B3C5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27717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A2A84B4A-CEB2-40FB-A02E-8EB2AF478368}"/>
              </a:ext>
            </a:extLst>
          </p:cNvPr>
          <p:cNvGrpSpPr/>
          <p:nvPr userDrawn="1"/>
        </p:nvGrpSpPr>
        <p:grpSpPr>
          <a:xfrm>
            <a:off x="6473211" y="529630"/>
            <a:ext cx="5760640" cy="2937987"/>
            <a:chOff x="-612576" y="1705002"/>
            <a:chExt cx="5688632" cy="2537858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F8CA4E56-5CF0-4C8C-A69B-FEC333052C4C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9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DBFF776C-2C37-432F-8D95-5002FD9DE6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07A15BD4-6D7E-4517-BDED-81FD478CEDA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035116" y="898584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FB0AFAFC-8EB9-4974-915A-249E7E1C57A2}"/>
              </a:ext>
            </a:extLst>
          </p:cNvPr>
          <p:cNvGrpSpPr/>
          <p:nvPr userDrawn="1"/>
        </p:nvGrpSpPr>
        <p:grpSpPr>
          <a:xfrm>
            <a:off x="6473211" y="3363597"/>
            <a:ext cx="5760640" cy="2937987"/>
            <a:chOff x="-612576" y="1705002"/>
            <a:chExt cx="5688632" cy="2537858"/>
          </a:xfrm>
        </p:grpSpPr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59FEB9C5-5FA6-4880-B618-058738C37AD1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2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3B06E91A-2C0E-4BB0-889E-F881F2C268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CDA76C3D-8C5A-4664-AF41-B36993816A4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35116" y="3732551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B011BE6-AEC5-4748-9F4F-9C4C17AEF0F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3FD5E11-19FF-42C9-8A8B-E2092EA988AD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06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0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09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C54477-4D39-BDFB-05CE-8B1B61F3B1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BBC6D8-8617-E4EE-B09D-6783FAB52EE5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47" y="293299"/>
            <a:ext cx="1189544" cy="8112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C0F3DD-BC4D-EA48-5237-3C0454E34805}"/>
              </a:ext>
            </a:extLst>
          </p:cNvPr>
          <p:cNvSpPr txBox="1"/>
          <p:nvPr userDrawn="1"/>
        </p:nvSpPr>
        <p:spPr>
          <a:xfrm>
            <a:off x="414069" y="6254151"/>
            <a:ext cx="31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1" r:id="rId2"/>
    <p:sldLayoutId id="2147483690" r:id="rId3"/>
    <p:sldLayoutId id="2147483688" r:id="rId4"/>
    <p:sldLayoutId id="2147483686" r:id="rId5"/>
    <p:sldLayoutId id="2147483692" r:id="rId6"/>
    <p:sldLayoutId id="2147483697" r:id="rId7"/>
    <p:sldLayoutId id="2147483699" r:id="rId8"/>
    <p:sldLayoutId id="2147483693" r:id="rId9"/>
    <p:sldLayoutId id="2147483707" r:id="rId10"/>
    <p:sldLayoutId id="2147483708" r:id="rId11"/>
    <p:sldLayoutId id="2147483694" r:id="rId12"/>
    <p:sldLayoutId id="2147483695" r:id="rId13"/>
    <p:sldLayoutId id="2147483696" r:id="rId14"/>
    <p:sldLayoutId id="2147483698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6" r:id="rId21"/>
    <p:sldLayoutId id="2147483656" r:id="rId22"/>
    <p:sldLayoutId id="2147483687" r:id="rId23"/>
    <p:sldLayoutId id="2147483709" r:id="rId24"/>
    <p:sldLayoutId id="2147483710" r:id="rId25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CF2FC9-087D-2399-D958-43244EF41B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17" y="129397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draz@aucegyp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li.adel@email.com" TargetMode="External"/><Relationship Id="rId4" Type="http://schemas.openxmlformats.org/officeDocument/2006/relationships/hyperlink" Target="https://eri.sci.e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tharvasoundankar/smart-farming-sensor-data-for-yield-prediction/dat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customXml" Target="../ink/ink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bhishekjainindore24/everything-about-random-forest-90c106d63989" TargetMode="External"/><Relationship Id="rId7" Type="http://schemas.openxmlformats.org/officeDocument/2006/relationships/hyperlink" Target="https://en.wikipedia.org/wiki/Random_fores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kaggle.com/code/adityaver/unit-5" TargetMode="External"/><Relationship Id="rId5" Type="http://schemas.openxmlformats.org/officeDocument/2006/relationships/hyperlink" Target="https://www.kaggle.com/datasets/atharvasoundankar/smart-farming-sensor-data-for-yield-prediction/data" TargetMode="External"/><Relationship Id="rId4" Type="http://schemas.openxmlformats.org/officeDocument/2006/relationships/hyperlink" Target="https://mlkeww00jjj8.i.optimole.com/cb:_P4T.27e/w:380/h:422/q:mauto/f:best/https:/www.displayr.com/wp-content/uploads/2018/07/what-is-a-decision-tree.png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494126" y="4511289"/>
            <a:ext cx="6263014" cy="432048"/>
          </a:xfrm>
        </p:spPr>
        <p:txBody>
          <a:bodyPr lIns="91440" tIns="45720" rIns="91440" bIns="45720" anchor="ctr"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Presented to Dr. Heba Draz, ECIP Internship Program Committee</a:t>
            </a:r>
          </a:p>
          <a:p>
            <a:pPr algn="l">
              <a:spcBef>
                <a:spcPts val="0"/>
              </a:spcBef>
              <a:defRPr/>
            </a:pPr>
            <a:r>
              <a:rPr lang="en-US">
                <a:latin typeface="Arial"/>
                <a:cs typeface="Arial"/>
                <a:hlinkClick r:id="rId3"/>
              </a:rPr>
              <a:t>hdraz@aucegypt.edu</a:t>
            </a:r>
            <a:endParaRPr lang="en-US" dirty="0">
              <a:latin typeface="Arial"/>
              <a:cs typeface="Arial"/>
              <a:hlinkClick r:id="rId3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965" y="2491559"/>
            <a:ext cx="7399189" cy="1907913"/>
          </a:xfrm>
        </p:spPr>
        <p:txBody>
          <a:bodyPr/>
          <a:lstStyle/>
          <a:p>
            <a:pPr algn="l"/>
            <a:r>
              <a:rPr lang="en-US" dirty="0">
                <a:ea typeface="+mj-lt"/>
                <a:cs typeface="+mj-lt"/>
              </a:rPr>
              <a:t>Crop Yield Prediction Using Decision Tree and Random Forest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0E0F0-9036-FB58-6199-0E36493D746F}"/>
              </a:ext>
            </a:extLst>
          </p:cNvPr>
          <p:cNvSpPr txBox="1"/>
          <p:nvPr/>
        </p:nvSpPr>
        <p:spPr>
          <a:xfrm>
            <a:off x="10279092" y="6188576"/>
            <a:ext cx="191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4"/>
              </a:rPr>
              <a:t>https://eri.sci.eg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5D488-064B-075A-6218-49E72B32E207}"/>
              </a:ext>
            </a:extLst>
          </p:cNvPr>
          <p:cNvSpPr txBox="1"/>
          <p:nvPr/>
        </p:nvSpPr>
        <p:spPr>
          <a:xfrm>
            <a:off x="1449239" y="333123"/>
            <a:ext cx="429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Electronics Research Institute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686995-906C-AF35-2C76-186985332952}"/>
              </a:ext>
            </a:extLst>
          </p:cNvPr>
          <p:cNvSpPr txBox="1"/>
          <p:nvPr/>
        </p:nvSpPr>
        <p:spPr>
          <a:xfrm>
            <a:off x="184029" y="6044802"/>
            <a:ext cx="4848045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Course: Hardware/Software Co-Design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Presented by: Ali Adel |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ali.adel@email.com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142" y="1150400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68164" y="548875"/>
            <a:ext cx="6186490" cy="780795"/>
            <a:chOff x="4745820" y="1491808"/>
            <a:chExt cx="6186490" cy="780795"/>
          </a:xfrm>
        </p:grpSpPr>
        <p:grpSp>
          <p:nvGrpSpPr>
            <p:cNvPr id="4" name="Group 3"/>
            <p:cNvGrpSpPr/>
            <p:nvPr/>
          </p:nvGrpSpPr>
          <p:grpSpPr>
            <a:xfrm>
              <a:off x="5816084" y="1724001"/>
              <a:ext cx="5116226" cy="373648"/>
              <a:chOff x="6341430" y="1653831"/>
              <a:chExt cx="5116226" cy="373648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341430" y="1653831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Problem Statement &amp; Objective</a:t>
                </a:r>
                <a:endParaRPr lang="en-US" b="1">
                  <a:cs typeface="Arial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964152" y="1796148"/>
            <a:ext cx="6186490" cy="780795"/>
            <a:chOff x="4745820" y="1491808"/>
            <a:chExt cx="6186490" cy="780795"/>
          </a:xfrm>
        </p:grpSpPr>
        <p:grpSp>
          <p:nvGrpSpPr>
            <p:cNvPr id="15" name="Group 14"/>
            <p:cNvGrpSpPr/>
            <p:nvPr/>
          </p:nvGrpSpPr>
          <p:grpSpPr>
            <a:xfrm>
              <a:off x="5840274" y="1687715"/>
              <a:ext cx="5092036" cy="409934"/>
              <a:chOff x="6365620" y="1617545"/>
              <a:chExt cx="5092036" cy="409934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365620" y="1617545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fontAlgn="base"/>
                <a:r>
                  <a:rPr lang="en-US" b="1" dirty="0"/>
                  <a:t>About the Authors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960140" y="3043421"/>
            <a:ext cx="6198585" cy="780795"/>
            <a:chOff x="4745820" y="1491808"/>
            <a:chExt cx="6198585" cy="780795"/>
          </a:xfrm>
        </p:grpSpPr>
        <p:grpSp>
          <p:nvGrpSpPr>
            <p:cNvPr id="22" name="Group 21"/>
            <p:cNvGrpSpPr/>
            <p:nvPr/>
          </p:nvGrpSpPr>
          <p:grpSpPr>
            <a:xfrm>
              <a:off x="5840274" y="1699810"/>
              <a:ext cx="5104131" cy="397839"/>
              <a:chOff x="6365620" y="1629640"/>
              <a:chExt cx="5104131" cy="397839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377715" y="1629640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Dataset Overview</a:t>
                </a: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3956128" y="4290694"/>
            <a:ext cx="6210680" cy="780795"/>
            <a:chOff x="4745820" y="1491808"/>
            <a:chExt cx="6210680" cy="780795"/>
          </a:xfrm>
        </p:grpSpPr>
        <p:grpSp>
          <p:nvGrpSpPr>
            <p:cNvPr id="29" name="Group 28"/>
            <p:cNvGrpSpPr/>
            <p:nvPr/>
          </p:nvGrpSpPr>
          <p:grpSpPr>
            <a:xfrm>
              <a:off x="5840274" y="1699810"/>
              <a:ext cx="5116226" cy="397839"/>
              <a:chOff x="6365620" y="1629640"/>
              <a:chExt cx="5116226" cy="397839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6389810" y="1629640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Set up ML environment </a:t>
                </a:r>
                <a:endParaRPr lang="en-US" b="1" dirty="0">
                  <a:cs typeface="Arial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952116" y="5537967"/>
            <a:ext cx="6186490" cy="780795"/>
            <a:chOff x="4745820" y="1491808"/>
            <a:chExt cx="6186490" cy="780795"/>
          </a:xfrm>
        </p:grpSpPr>
        <p:sp>
          <p:nvSpPr>
            <p:cNvPr id="41" name="TextBox 40"/>
            <p:cNvSpPr txBox="1"/>
            <p:nvPr/>
          </p:nvSpPr>
          <p:spPr>
            <a:xfrm>
              <a:off x="5840274" y="1687715"/>
              <a:ext cx="5092036" cy="369332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r>
                <a:rPr lang="en-US" b="1" dirty="0">
                  <a:ea typeface="+mn-lt"/>
                  <a:cs typeface="+mn-lt"/>
                </a:rPr>
                <a:t>Machine Learning Algorithms </a:t>
              </a:r>
              <a:endParaRPr lang="en-US" b="1">
                <a:cs typeface="Arial"/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1AB3C-6574-E722-4E57-E59E3D864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6AC01B-BC2E-4F9A-8670-D04A5D0E6588}"/>
              </a:ext>
            </a:extLst>
          </p:cNvPr>
          <p:cNvSpPr txBox="1"/>
          <p:nvPr/>
        </p:nvSpPr>
        <p:spPr>
          <a:xfrm>
            <a:off x="0" y="658381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A4D7131-887F-56F7-86E5-ED49B379BE26}"/>
              </a:ext>
            </a:extLst>
          </p:cNvPr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E31B8C7-8894-EE02-F306-604B9EBB2914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73104F5-B61E-88D9-1387-030092584969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2259B8C-E47C-F39C-5341-42FFA1CB2EBE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677C9C-2E9B-FAC7-87C6-D02559479326}"/>
              </a:ext>
            </a:extLst>
          </p:cNvPr>
          <p:cNvGrpSpPr/>
          <p:nvPr/>
        </p:nvGrpSpPr>
        <p:grpSpPr>
          <a:xfrm>
            <a:off x="4029744" y="498629"/>
            <a:ext cx="6174395" cy="780795"/>
            <a:chOff x="4757915" y="1491808"/>
            <a:chExt cx="6174395" cy="78079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FEB298B-AF46-4318-9E1C-F9156AFC5DA1}"/>
                </a:ext>
              </a:extLst>
            </p:cNvPr>
            <p:cNvGrpSpPr/>
            <p:nvPr/>
          </p:nvGrpSpPr>
          <p:grpSpPr>
            <a:xfrm>
              <a:off x="5840274" y="1699810"/>
              <a:ext cx="5092036" cy="397839"/>
              <a:chOff x="6365620" y="1629640"/>
              <a:chExt cx="5092036" cy="397839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1DB442D-C394-DB02-EBB4-C07357E5D1A1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98994A-FDAC-3355-5BB2-48CBB41FE602}"/>
                  </a:ext>
                </a:extLst>
              </p:cNvPr>
              <p:cNvSpPr txBox="1"/>
              <p:nvPr/>
            </p:nvSpPr>
            <p:spPr>
              <a:xfrm>
                <a:off x="6365620" y="1629640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Model Evaluation Metrics</a:t>
                </a:r>
                <a:endParaRPr lang="en-US" b="1" dirty="0">
                  <a:cs typeface="Arial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EDABD76-83AC-4447-83A8-A67111CD2D1B}"/>
                </a:ext>
              </a:extLst>
            </p:cNvPr>
            <p:cNvGrpSpPr/>
            <p:nvPr/>
          </p:nvGrpSpPr>
          <p:grpSpPr>
            <a:xfrm>
              <a:off x="4757915" y="1491808"/>
              <a:ext cx="958096" cy="780795"/>
              <a:chOff x="5336426" y="1449052"/>
              <a:chExt cx="958096" cy="78079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60A4618-999E-F24E-FFB4-BEA3EF1DEC03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F7DE289-D1F1-A1BA-ACB5-417B5819F5D7}"/>
                  </a:ext>
                </a:extLst>
              </p:cNvPr>
              <p:cNvSpPr txBox="1"/>
              <p:nvPr/>
            </p:nvSpPr>
            <p:spPr>
              <a:xfrm>
                <a:off x="5336426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/>
                  </a:rPr>
                  <a:t>06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B292EE-2B10-CE97-57CD-BFA877266AC5}"/>
              </a:ext>
            </a:extLst>
          </p:cNvPr>
          <p:cNvGrpSpPr/>
          <p:nvPr/>
        </p:nvGrpSpPr>
        <p:grpSpPr>
          <a:xfrm>
            <a:off x="4056769" y="1745902"/>
            <a:ext cx="6155453" cy="780795"/>
            <a:chOff x="4788952" y="1491808"/>
            <a:chExt cx="6155453" cy="78079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AEEE5F3-4AF7-AFC6-2328-F47BDB6706C1}"/>
                </a:ext>
              </a:extLst>
            </p:cNvPr>
            <p:cNvGrpSpPr/>
            <p:nvPr/>
          </p:nvGrpSpPr>
          <p:grpSpPr>
            <a:xfrm>
              <a:off x="5840274" y="1699810"/>
              <a:ext cx="5104131" cy="397839"/>
              <a:chOff x="6365620" y="1629640"/>
              <a:chExt cx="5104131" cy="39783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C7A304-3E10-7266-5C10-1F9371099E34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FA94754-37B9-29FC-524B-A222F495DAEE}"/>
                  </a:ext>
                </a:extLst>
              </p:cNvPr>
              <p:cNvSpPr txBox="1"/>
              <p:nvPr/>
            </p:nvSpPr>
            <p:spPr>
              <a:xfrm>
                <a:off x="6377715" y="1629640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Results &amp; Comparison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465B6C9-BE05-E883-FBD1-E8165A0DEA73}"/>
                </a:ext>
              </a:extLst>
            </p:cNvPr>
            <p:cNvGrpSpPr/>
            <p:nvPr/>
          </p:nvGrpSpPr>
          <p:grpSpPr>
            <a:xfrm>
              <a:off x="4788952" y="1491808"/>
              <a:ext cx="958096" cy="780795"/>
              <a:chOff x="5367463" y="1449052"/>
              <a:chExt cx="958096" cy="78079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31524E6-84E3-F9D3-083F-F1AF478A4641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7CC72A5-91B5-6C17-D11D-A74A970F8107}"/>
                  </a:ext>
                </a:extLst>
              </p:cNvPr>
              <p:cNvSpPr txBox="1"/>
              <p:nvPr/>
            </p:nvSpPr>
            <p:spPr>
              <a:xfrm>
                <a:off x="5367463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/>
                  </a:rPr>
                  <a:t>07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FFA2AC3-1FE2-D878-1811-728C47C11AB4}"/>
              </a:ext>
            </a:extLst>
          </p:cNvPr>
          <p:cNvGrpSpPr/>
          <p:nvPr/>
        </p:nvGrpSpPr>
        <p:grpSpPr>
          <a:xfrm>
            <a:off x="4009625" y="2993175"/>
            <a:ext cx="6186490" cy="780795"/>
            <a:chOff x="4745820" y="1491808"/>
            <a:chExt cx="6186490" cy="78079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12A676A-958B-BCA8-4651-072CE703F127}"/>
                </a:ext>
              </a:extLst>
            </p:cNvPr>
            <p:cNvGrpSpPr/>
            <p:nvPr/>
          </p:nvGrpSpPr>
          <p:grpSpPr>
            <a:xfrm>
              <a:off x="5840274" y="1687715"/>
              <a:ext cx="5092036" cy="409934"/>
              <a:chOff x="6365620" y="1617545"/>
              <a:chExt cx="5092036" cy="409934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9FF9800-345A-71D4-8889-536EF0D95DCB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B5C1DD0-1603-EBFC-3C04-65A171C7007C}"/>
                  </a:ext>
                </a:extLst>
              </p:cNvPr>
              <p:cNvSpPr txBox="1"/>
              <p:nvPr/>
            </p:nvSpPr>
            <p:spPr>
              <a:xfrm>
                <a:off x="6365620" y="1617545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Conclusion</a:t>
                </a:r>
                <a:endParaRPr lang="en-US" b="1" dirty="0">
                  <a:cs typeface="Arial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437E106-C975-616B-7ED6-C5A49C7AD343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A09647D7-0B8C-B1EC-C03C-F9FE0EDE15DC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3555BD9-FF1C-7933-FA4A-CDFF9B3232A1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/>
                  </a:rPr>
                  <a:t>08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1668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178608" y="1409379"/>
            <a:ext cx="7581868" cy="2890844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Problem Statement&amp; Objective </a:t>
            </a:r>
            <a:endParaRPr lang="en-US">
              <a:solidFill>
                <a:srgbClr val="000000"/>
              </a:solidFill>
              <a:ea typeface="+mj-lt"/>
              <a:cs typeface="+mj-lt"/>
            </a:endParaRPr>
          </a:p>
          <a:p>
            <a:endParaRPr lang="en-US" dirty="0">
              <a:ea typeface="+mj-lt"/>
              <a:cs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178608" y="3562414"/>
            <a:ext cx="6444916" cy="288032"/>
          </a:xfrm>
        </p:spPr>
        <p:txBody>
          <a:bodyPr/>
          <a:lstStyle/>
          <a:p>
            <a:r>
              <a:rPr lang="en-US" dirty="0"/>
              <a:t>Why is it important to fix?</a:t>
            </a:r>
            <a:endParaRPr lang="en-US" altLang="ko-KR" dirty="0"/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1233166" y="383699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AB2FA-FF22-2E70-5FFF-5D267148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0F7244-CFCA-9FA3-2844-1EEA812F7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sz="4000" dirty="0">
                <a:ea typeface="+mj-lt"/>
                <a:cs typeface="+mj-lt"/>
              </a:rPr>
              <a:t>Problem Statement &amp; Objective </a:t>
            </a:r>
            <a:endParaRPr lang="en-US" sz="4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ADC8A-EBCE-58D7-C19A-2368449029FC}"/>
              </a:ext>
            </a:extLst>
          </p:cNvPr>
          <p:cNvSpPr txBox="1"/>
          <p:nvPr/>
        </p:nvSpPr>
        <p:spPr>
          <a:xfrm>
            <a:off x="776301" y="1440880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/>
              </a:rPr>
              <a:t>Crop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1922F-03A3-74A7-B916-C8D8508A962C}"/>
              </a:ext>
            </a:extLst>
          </p:cNvPr>
          <p:cNvSpPr txBox="1"/>
          <p:nvPr/>
        </p:nvSpPr>
        <p:spPr>
          <a:xfrm>
            <a:off x="2309165" y="1860500"/>
            <a:ext cx="509030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yield depends on many interacting factors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5217A-2065-2D35-93FF-5C083D2E8267}"/>
              </a:ext>
            </a:extLst>
          </p:cNvPr>
          <p:cNvSpPr txBox="1"/>
          <p:nvPr/>
        </p:nvSpPr>
        <p:spPr>
          <a:xfrm>
            <a:off x="771354" y="2165483"/>
            <a:ext cx="641040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ea typeface="Arial Unicode MS"/>
                <a:cs typeface="+mn-lt"/>
              </a:rPr>
              <a:t>For example: soil </a:t>
            </a:r>
            <a:r>
              <a:rPr lang="en-US" sz="1400" dirty="0">
                <a:ea typeface="+mn-lt"/>
                <a:cs typeface="+mn-lt"/>
              </a:rPr>
              <a:t>moisture, temperature and sunlight hours.</a:t>
            </a:r>
            <a:endParaRPr lang="en-US" sz="1400" dirty="0">
              <a:ea typeface="Arial Unicode MS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Farmers usually predict crop yield using a mix of experience and observation.</a:t>
            </a:r>
            <a:endParaRPr lang="en-US" sz="1400" dirty="0">
              <a:ea typeface="Arial Unicode MS"/>
              <a:cs typeface="+mn-lt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DB555CE-A669-4A1A-C488-4467B349BB56}"/>
              </a:ext>
            </a:extLst>
          </p:cNvPr>
          <p:cNvSpPr txBox="1">
            <a:spLocks/>
          </p:cNvSpPr>
          <p:nvPr/>
        </p:nvSpPr>
        <p:spPr>
          <a:xfrm>
            <a:off x="781209" y="2696329"/>
            <a:ext cx="3770334" cy="414274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What about using magic?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858B8-2332-9462-FB17-60CBD981F5D6}"/>
              </a:ext>
            </a:extLst>
          </p:cNvPr>
          <p:cNvSpPr txBox="1"/>
          <p:nvPr/>
        </p:nvSpPr>
        <p:spPr>
          <a:xfrm>
            <a:off x="781251" y="3110080"/>
            <a:ext cx="6410403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+mn-lt"/>
                <a:cs typeface="+mn-lt"/>
              </a:rPr>
              <a:t>Benefits: </a:t>
            </a:r>
            <a:endParaRPr lang="en-US" dirty="0">
              <a:ea typeface="Arial Unicode MS"/>
              <a:cs typeface="+mn-lt"/>
            </a:endParaRPr>
          </a:p>
          <a:p>
            <a:pPr marL="742315" lvl="1" indent="-285750">
              <a:buFont typeface="Courier New" panose="020B0604020202020204" pitchFamily="34" charset="0"/>
              <a:buChar char="o"/>
            </a:pPr>
            <a:r>
              <a:rPr lang="en-US" sz="1400" dirty="0">
                <a:ea typeface="+mn-lt"/>
                <a:cs typeface="+mn-lt"/>
              </a:rPr>
              <a:t>Faster and more precise than traditional guesswork.</a:t>
            </a:r>
          </a:p>
          <a:p>
            <a:pPr marL="742315" lvl="1" indent="-285750">
              <a:buFont typeface="Courier New,monospace" panose="020B0604020202020204" pitchFamily="34" charset="0"/>
              <a:buChar char="o"/>
            </a:pPr>
            <a:r>
              <a:rPr lang="en-US" sz="1400" dirty="0">
                <a:ea typeface="+mn-lt"/>
                <a:cs typeface="+mn-lt"/>
              </a:rPr>
              <a:t>Helps in planning harvests, marketing, and resource allocation.</a:t>
            </a:r>
          </a:p>
          <a:p>
            <a:pPr marL="742315" lvl="1" indent="-285750">
              <a:buFont typeface="Courier New" panose="020B0604020202020204" pitchFamily="34" charset="0"/>
              <a:buChar char="o"/>
            </a:pPr>
            <a:r>
              <a:rPr lang="en-US" sz="1400" dirty="0">
                <a:ea typeface="+mn-lt"/>
                <a:cs typeface="+mn-lt"/>
              </a:rPr>
              <a:t>Can adapt to climate change scenarios.</a:t>
            </a:r>
          </a:p>
          <a:p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Machine learning is the modern “magic” that turns data on weather, soil, and crops into accurate yield predictions.</a:t>
            </a:r>
            <a:endParaRPr lang="en-US" dirty="0">
              <a:ea typeface="+mn-lt"/>
              <a:cs typeface="+mn-lt"/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7A321C24-8817-5B23-1A4A-336EF6EBE9E7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39B9AE2F-A819-27A5-9FEC-CAFF7D423D60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6" name="Picture 5" descr="13+ Thousand Crop Prices Royalty-Free Images, Stock Photos &amp; Pictures |  Shutterstock">
            <a:extLst>
              <a:ext uri="{FF2B5EF4-FFF2-40B4-BE49-F238E27FC236}">
                <a16:creationId xmlns:a16="http://schemas.microsoft.com/office/drawing/2014/main" id="{82E013F8-8F54-F8C7-FC81-3A6E1F840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495" y="1482305"/>
            <a:ext cx="3361426" cy="33614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71201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85E0-A95A-18B3-4036-D8926109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89CA3F-831F-2AE0-7BDC-2A052CD8A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/>
            <a:r>
              <a:rPr lang="en-US" sz="2800" dirty="0"/>
              <a:t>About the Authors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8B759-4F9C-EF59-CC8D-99080B6509A3}"/>
              </a:ext>
            </a:extLst>
          </p:cNvPr>
          <p:cNvSpPr txBox="1"/>
          <p:nvPr/>
        </p:nvSpPr>
        <p:spPr>
          <a:xfrm>
            <a:off x="5487062" y="1654764"/>
            <a:ext cx="589059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Dataset Title: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EAC5D4-2FC5-4925-41E7-97A7F2A886B8}"/>
              </a:ext>
            </a:extLst>
          </p:cNvPr>
          <p:cNvSpPr txBox="1"/>
          <p:nvPr/>
        </p:nvSpPr>
        <p:spPr>
          <a:xfrm>
            <a:off x="5487062" y="2125915"/>
            <a:ext cx="6279368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700" b="1" dirty="0">
                <a:solidFill>
                  <a:srgbClr val="202124"/>
                </a:solidFill>
                <a:highlight>
                  <a:srgbClr val="FFFFFF"/>
                </a:highlight>
              </a:rPr>
              <a:t>Smart Farming Sensor Data for Yield Prediction</a:t>
            </a:r>
            <a:endParaRPr lang="en-US" dirty="0"/>
          </a:p>
          <a:p>
            <a:endParaRPr lang="en-US" b="1" dirty="0"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96691-B4F1-ECFE-2D24-39CC89042A9D}"/>
              </a:ext>
            </a:extLst>
          </p:cNvPr>
          <p:cNvSpPr txBox="1"/>
          <p:nvPr/>
        </p:nvSpPr>
        <p:spPr>
          <a:xfrm>
            <a:off x="5487062" y="3014114"/>
            <a:ext cx="5954916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Dataset: Author (Atharva </a:t>
            </a:r>
            <a:r>
              <a:rPr lang="en-US" sz="1600" dirty="0" err="1">
                <a:ea typeface="+mn-lt"/>
                <a:cs typeface="+mn-lt"/>
              </a:rPr>
              <a:t>Soundankar</a:t>
            </a:r>
            <a:r>
              <a:rPr lang="en-US" sz="1600" dirty="0">
                <a:ea typeface="+mn-lt"/>
                <a:cs typeface="+mn-lt"/>
              </a:rPr>
              <a:t>) </a:t>
            </a:r>
            <a:r>
              <a:rPr lang="en-US" sz="1600" dirty="0">
                <a:ea typeface="+mn-lt"/>
                <a:cs typeface="+mn-lt"/>
                <a:hlinkClick r:id="rId3"/>
              </a:rPr>
              <a:t>https://www.kaggle.com/datasets/atharvasoundankar/smart-farming-sensor-data-for-yield-prediction/data</a:t>
            </a:r>
            <a:endParaRPr lang="en-US">
              <a:ea typeface="Arial Unicode MS"/>
              <a:cs typeface="+mn-lt"/>
            </a:endParaRPr>
          </a:p>
          <a:p>
            <a:endParaRPr lang="en-US" sz="1600" dirty="0">
              <a:cs typeface="Arial"/>
            </a:endParaRPr>
          </a:p>
          <a:p>
            <a:r>
              <a:rPr lang="en-US" sz="1600" dirty="0">
                <a:cs typeface="Arial"/>
              </a:rPr>
              <a:t>Source Code: Author (</a:t>
            </a:r>
            <a:r>
              <a:rPr lang="en-US" sz="1600" dirty="0">
                <a:ea typeface="+mn-lt"/>
                <a:cs typeface="+mn-lt"/>
              </a:rPr>
              <a:t>ADITYA VERMA)</a:t>
            </a:r>
            <a:endParaRPr lang="en-US" dirty="0"/>
          </a:p>
          <a:p>
            <a:r>
              <a:rPr lang="en-US" sz="1600" dirty="0">
                <a:ea typeface="+mn-lt"/>
                <a:cs typeface="+mn-lt"/>
              </a:rPr>
              <a:t>https://www.kaggle.com/code/adityaver/unit-5</a:t>
            </a:r>
            <a:endParaRPr lang="en-US" dirty="0"/>
          </a:p>
          <a:p>
            <a:endParaRPr lang="en-US" sz="1600" dirty="0">
              <a:cs typeface="Arial"/>
            </a:endParaRP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B0C08550-4901-3473-F3DF-E4E91A332EBA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5C36C9B-3BA0-9ADF-57FB-A1E0A2A84AFC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22EE2AF-8DA3-B65C-65FC-3B95437703EC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8584018F-A21A-6602-2B5B-A6BC6F108D5F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02A67ADB-67F3-BAA2-7272-7D78F12BF958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108BB5AB-63E9-99ED-9815-A3957E168287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A1463F0C-4FD1-35DA-3F0F-411317522D52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F4689F83-73DA-462F-4FF3-C3DFBA98BD8D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A1544B57-16CB-A772-EA95-D22CF1816253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A2A93DDD-22E6-748F-E480-32701964AEF3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695CF3A3-FC64-C38B-9BAE-A37E1CF63208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BD6E51E1-6B4D-4347-3A2D-B37C0309EA0D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A5E6768B-121D-0086-5856-BA6AEA243B4D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8C5DAE83-DE4D-1DD0-1EC0-962EA9CC6246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0C9EAC3B-1A87-7CF0-B88F-88366C241FB5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CC195278-5EFE-C0D9-5830-4A1C1317CCD6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B13B41C6-CF5E-32A3-4C0F-79393F8410E6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013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202E-11A9-5569-C8C3-64FFBC9FC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B0A702-16DA-D611-FECC-5676FBD3EE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Dataset Overview</a:t>
            </a:r>
          </a:p>
        </p:txBody>
      </p:sp>
      <p:pic>
        <p:nvPicPr>
          <p:cNvPr id="6" name="Picture 2" descr="E:\002-KIMS BUSINESS\000-B-KIMS-소스 분류-2014\10-ESP to IMG\지구.png">
            <a:extLst>
              <a:ext uri="{FF2B5EF4-FFF2-40B4-BE49-F238E27FC236}">
                <a16:creationId xmlns:a16="http://schemas.microsoft.com/office/drawing/2014/main" id="{AF625D23-E872-4693-7A98-08F0B9039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986" y="1672854"/>
            <a:ext cx="1939961" cy="193996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00">
            <a:extLst>
              <a:ext uri="{FF2B5EF4-FFF2-40B4-BE49-F238E27FC236}">
                <a16:creationId xmlns:a16="http://schemas.microsoft.com/office/drawing/2014/main" id="{2EE5AFD7-C9A8-A389-AA1C-4211D50300B9}"/>
              </a:ext>
            </a:extLst>
          </p:cNvPr>
          <p:cNvGrpSpPr/>
          <p:nvPr/>
        </p:nvGrpSpPr>
        <p:grpSpPr>
          <a:xfrm>
            <a:off x="4490458" y="5656058"/>
            <a:ext cx="2966597" cy="472680"/>
            <a:chOff x="4965551" y="1783849"/>
            <a:chExt cx="1780587" cy="47268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830119-E73E-CF97-C766-E4D4324B9686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Crop yield per hectare (target variable)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19BEFB-9561-F2D8-0C92-838370CF8790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yield_kg_per_hectare</a:t>
              </a:r>
              <a:endParaRPr lang="en-US" dirty="0" err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Group 106">
            <a:extLst>
              <a:ext uri="{FF2B5EF4-FFF2-40B4-BE49-F238E27FC236}">
                <a16:creationId xmlns:a16="http://schemas.microsoft.com/office/drawing/2014/main" id="{B87DA0C6-EB23-28F7-C43A-C9145CBDDE8B}"/>
              </a:ext>
            </a:extLst>
          </p:cNvPr>
          <p:cNvGrpSpPr/>
          <p:nvPr/>
        </p:nvGrpSpPr>
        <p:grpSpPr>
          <a:xfrm>
            <a:off x="8372305" y="3550085"/>
            <a:ext cx="2966597" cy="472680"/>
            <a:chOff x="4965551" y="1783849"/>
            <a:chExt cx="1780587" cy="47268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5B3F1EC-FF80-BC53-11E0-392672A86943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Date when the crop was sown.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973952C-57C5-A6EE-314D-1241C4B90D60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sowing_date</a:t>
              </a:r>
              <a:endPara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" name="Group 118">
            <a:extLst>
              <a:ext uri="{FF2B5EF4-FFF2-40B4-BE49-F238E27FC236}">
                <a16:creationId xmlns:a16="http://schemas.microsoft.com/office/drawing/2014/main" id="{767E9849-7B20-9B1A-2F65-F0D47F7CC01A}"/>
              </a:ext>
            </a:extLst>
          </p:cNvPr>
          <p:cNvGrpSpPr/>
          <p:nvPr/>
        </p:nvGrpSpPr>
        <p:grpSpPr>
          <a:xfrm>
            <a:off x="7849286" y="4855493"/>
            <a:ext cx="2966597" cy="472680"/>
            <a:chOff x="4965551" y="1783849"/>
            <a:chExt cx="1780587" cy="47268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74A16DD-A4C4-BB75-6A19-FDF87BC91496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Date when the crop was harvested.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71C956-1273-5C08-A89A-CF206EA76C0D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harvest_date</a:t>
              </a:r>
              <a:endPara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7" name="Group 127">
            <a:extLst>
              <a:ext uri="{FF2B5EF4-FFF2-40B4-BE49-F238E27FC236}">
                <a16:creationId xmlns:a16="http://schemas.microsoft.com/office/drawing/2014/main" id="{17E6781A-43C6-14F3-7405-42F3A11FFF91}"/>
              </a:ext>
            </a:extLst>
          </p:cNvPr>
          <p:cNvGrpSpPr/>
          <p:nvPr/>
        </p:nvGrpSpPr>
        <p:grpSpPr>
          <a:xfrm>
            <a:off x="631459" y="3696218"/>
            <a:ext cx="3204316" cy="657346"/>
            <a:chOff x="4833503" y="1783849"/>
            <a:chExt cx="1912635" cy="65734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357316-FBE2-C9B0-C9B5-040FB46EBC87}"/>
                </a:ext>
              </a:extLst>
            </p:cNvPr>
            <p:cNvSpPr txBox="1"/>
            <p:nvPr/>
          </p:nvSpPr>
          <p:spPr>
            <a:xfrm>
              <a:off x="4833503" y="1971337"/>
              <a:ext cx="1912635" cy="4698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High indicates wetter soil, low indicates dry soil.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25580F-DA46-DAAA-B219-5581B4758569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Soil moisture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0" name="Group 130">
            <a:extLst>
              <a:ext uri="{FF2B5EF4-FFF2-40B4-BE49-F238E27FC236}">
                <a16:creationId xmlns:a16="http://schemas.microsoft.com/office/drawing/2014/main" id="{712A2B16-1901-44CF-54CF-37BFA70E6018}"/>
              </a:ext>
            </a:extLst>
          </p:cNvPr>
          <p:cNvGrpSpPr/>
          <p:nvPr/>
        </p:nvGrpSpPr>
        <p:grpSpPr>
          <a:xfrm>
            <a:off x="1290133" y="4928927"/>
            <a:ext cx="3179734" cy="521841"/>
            <a:chOff x="4867738" y="1783849"/>
            <a:chExt cx="1897962" cy="52184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75074C7-A9EC-C6D5-812B-0541C553FA97}"/>
                </a:ext>
              </a:extLst>
            </p:cNvPr>
            <p:cNvSpPr txBox="1"/>
            <p:nvPr/>
          </p:nvSpPr>
          <p:spPr>
            <a:xfrm>
              <a:off x="4867738" y="2028691"/>
              <a:ext cx="1897962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High indicates alkaline, low indicates acidic.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4B60B81-641C-09B6-07B6-447CE3EDA86F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/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soil_pH</a:t>
              </a:r>
              <a:endParaRPr lang="en-US" altLang="ko-KR" dirty="0" err="1"/>
            </a:p>
          </p:txBody>
        </p:sp>
      </p:grpSp>
      <p:sp>
        <p:nvSpPr>
          <p:cNvPr id="14" name="Oval 95">
            <a:extLst>
              <a:ext uri="{FF2B5EF4-FFF2-40B4-BE49-F238E27FC236}">
                <a16:creationId xmlns:a16="http://schemas.microsoft.com/office/drawing/2014/main" id="{C178ED69-4C01-4A8B-FAB2-1D57A1B7AD6C}"/>
              </a:ext>
            </a:extLst>
          </p:cNvPr>
          <p:cNvSpPr/>
          <p:nvPr/>
        </p:nvSpPr>
        <p:spPr>
          <a:xfrm>
            <a:off x="4116416" y="3917155"/>
            <a:ext cx="725420" cy="7254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Oval 96">
            <a:extLst>
              <a:ext uri="{FF2B5EF4-FFF2-40B4-BE49-F238E27FC236}">
                <a16:creationId xmlns:a16="http://schemas.microsoft.com/office/drawing/2014/main" id="{7D9AC86A-7239-6F2E-7EDE-AF44B48BB808}"/>
              </a:ext>
            </a:extLst>
          </p:cNvPr>
          <p:cNvSpPr/>
          <p:nvPr/>
        </p:nvSpPr>
        <p:spPr>
          <a:xfrm>
            <a:off x="5713979" y="4647030"/>
            <a:ext cx="725420" cy="7254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Parallelogram 30">
            <a:extLst>
              <a:ext uri="{FF2B5EF4-FFF2-40B4-BE49-F238E27FC236}">
                <a16:creationId xmlns:a16="http://schemas.microsoft.com/office/drawing/2014/main" id="{3F3E2292-7734-731C-A047-68308F710141}"/>
              </a:ext>
            </a:extLst>
          </p:cNvPr>
          <p:cNvSpPr/>
          <p:nvPr/>
        </p:nvSpPr>
        <p:spPr>
          <a:xfrm flipH="1">
            <a:off x="4292753" y="4127752"/>
            <a:ext cx="352805" cy="353677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Isosceles Triangle 8">
            <a:extLst>
              <a:ext uri="{FF2B5EF4-FFF2-40B4-BE49-F238E27FC236}">
                <a16:creationId xmlns:a16="http://schemas.microsoft.com/office/drawing/2014/main" id="{294B57DF-8A3C-48E4-13FC-578AE9823394}"/>
              </a:ext>
            </a:extLst>
          </p:cNvPr>
          <p:cNvSpPr/>
          <p:nvPr/>
        </p:nvSpPr>
        <p:spPr>
          <a:xfrm rot="16200000">
            <a:off x="9364464" y="2442628"/>
            <a:ext cx="341731" cy="407434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Donut 24">
            <a:extLst>
              <a:ext uri="{FF2B5EF4-FFF2-40B4-BE49-F238E27FC236}">
                <a16:creationId xmlns:a16="http://schemas.microsoft.com/office/drawing/2014/main" id="{48BCF330-FC77-A06F-01EB-25E946F4A597}"/>
              </a:ext>
            </a:extLst>
          </p:cNvPr>
          <p:cNvSpPr/>
          <p:nvPr/>
        </p:nvSpPr>
        <p:spPr>
          <a:xfrm>
            <a:off x="5886131" y="4806224"/>
            <a:ext cx="396474" cy="399702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32FE228-9349-78BD-72BC-27352CD4253F}"/>
              </a:ext>
            </a:extLst>
          </p:cNvPr>
          <p:cNvGrpSpPr/>
          <p:nvPr/>
        </p:nvGrpSpPr>
        <p:grpSpPr>
          <a:xfrm>
            <a:off x="4286067" y="2644948"/>
            <a:ext cx="940156" cy="1298632"/>
            <a:chOff x="4208243" y="2644948"/>
            <a:chExt cx="940156" cy="1298632"/>
          </a:xfrm>
        </p:grpSpPr>
        <p:sp>
          <p:nvSpPr>
            <p:cNvPr id="8" name="Rectangle 15">
              <a:extLst>
                <a:ext uri="{FF2B5EF4-FFF2-40B4-BE49-F238E27FC236}">
                  <a16:creationId xmlns:a16="http://schemas.microsoft.com/office/drawing/2014/main" id="{92917963-A3D7-F01C-3266-5E742A26B856}"/>
                </a:ext>
              </a:extLst>
            </p:cNvPr>
            <p:cNvSpPr/>
            <p:nvPr/>
          </p:nvSpPr>
          <p:spPr>
            <a:xfrm rot="10800000">
              <a:off x="4208243" y="2644948"/>
              <a:ext cx="940156" cy="907440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DD61B7D-7A08-DA78-49FD-4F9324663D49}"/>
                </a:ext>
              </a:extLst>
            </p:cNvPr>
            <p:cNvSpPr/>
            <p:nvPr/>
          </p:nvSpPr>
          <p:spPr>
            <a:xfrm rot="8013803">
              <a:off x="4525257" y="3527303"/>
              <a:ext cx="665367" cy="16718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9817F01-2DA2-0E41-8A78-0F450B581DC6}"/>
              </a:ext>
            </a:extLst>
          </p:cNvPr>
          <p:cNvGrpSpPr/>
          <p:nvPr/>
        </p:nvGrpSpPr>
        <p:grpSpPr>
          <a:xfrm>
            <a:off x="5027592" y="3468925"/>
            <a:ext cx="1023989" cy="1021535"/>
            <a:chOff x="4949768" y="3468925"/>
            <a:chExt cx="1023989" cy="1021535"/>
          </a:xfrm>
        </p:grpSpPr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F806EE3B-0FC0-9654-4599-1154715E24B1}"/>
                </a:ext>
              </a:extLst>
            </p:cNvPr>
            <p:cNvSpPr/>
            <p:nvPr/>
          </p:nvSpPr>
          <p:spPr>
            <a:xfrm rot="8033242">
              <a:off x="4933409" y="3485284"/>
              <a:ext cx="940158" cy="907439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1B55E25-16FD-77E6-6A0E-0567A3F31B4F}"/>
                </a:ext>
              </a:extLst>
            </p:cNvPr>
            <p:cNvSpPr/>
            <p:nvPr/>
          </p:nvSpPr>
          <p:spPr>
            <a:xfrm rot="5400000">
              <a:off x="5557480" y="4074183"/>
              <a:ext cx="665367" cy="16718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3124343-20DC-0A09-16C3-E7A34B9B13C9}"/>
              </a:ext>
            </a:extLst>
          </p:cNvPr>
          <p:cNvGrpSpPr/>
          <p:nvPr/>
        </p:nvGrpSpPr>
        <p:grpSpPr>
          <a:xfrm>
            <a:off x="6117255" y="3513963"/>
            <a:ext cx="1041907" cy="982036"/>
            <a:chOff x="6039431" y="3513963"/>
            <a:chExt cx="1041907" cy="982036"/>
          </a:xfrm>
        </p:grpSpPr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8614CAAB-EABF-5BD3-11A4-53AB9354C344}"/>
                </a:ext>
              </a:extLst>
            </p:cNvPr>
            <p:cNvSpPr/>
            <p:nvPr/>
          </p:nvSpPr>
          <p:spPr>
            <a:xfrm rot="5400000">
              <a:off x="6023072" y="3572201"/>
              <a:ext cx="940157" cy="907439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C05A69B-3C3B-C3A2-73B7-969036F0DF6B}"/>
                </a:ext>
              </a:extLst>
            </p:cNvPr>
            <p:cNvSpPr/>
            <p:nvPr/>
          </p:nvSpPr>
          <p:spPr>
            <a:xfrm rot="2700000">
              <a:off x="6665061" y="3763053"/>
              <a:ext cx="665367" cy="1671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1605B62-CFA0-33F0-0908-4078CEB3446E}"/>
              </a:ext>
            </a:extLst>
          </p:cNvPr>
          <p:cNvGrpSpPr/>
          <p:nvPr/>
        </p:nvGrpSpPr>
        <p:grpSpPr>
          <a:xfrm>
            <a:off x="6941232" y="2730302"/>
            <a:ext cx="1026294" cy="1024172"/>
            <a:chOff x="6863408" y="2730302"/>
            <a:chExt cx="1026294" cy="1024172"/>
          </a:xfrm>
        </p:grpSpPr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F7FA8F3D-E8D0-5D7C-1FDD-E46E4A69CEBE}"/>
                </a:ext>
              </a:extLst>
            </p:cNvPr>
            <p:cNvSpPr/>
            <p:nvPr/>
          </p:nvSpPr>
          <p:spPr>
            <a:xfrm rot="2633242">
              <a:off x="6863408" y="2847034"/>
              <a:ext cx="940157" cy="907440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6C450393-7F89-1F63-B826-8994229D9E04}"/>
                </a:ext>
              </a:extLst>
            </p:cNvPr>
            <p:cNvSpPr/>
            <p:nvPr/>
          </p:nvSpPr>
          <p:spPr>
            <a:xfrm>
              <a:off x="7224335" y="2730302"/>
              <a:ext cx="665367" cy="1671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8" name="Oval 95">
            <a:extLst>
              <a:ext uri="{FF2B5EF4-FFF2-40B4-BE49-F238E27FC236}">
                <a16:creationId xmlns:a16="http://schemas.microsoft.com/office/drawing/2014/main" id="{720DCE2F-5366-4CE1-A513-D964D1F0EDB8}"/>
              </a:ext>
            </a:extLst>
          </p:cNvPr>
          <p:cNvSpPr/>
          <p:nvPr/>
        </p:nvSpPr>
        <p:spPr>
          <a:xfrm>
            <a:off x="8183177" y="2434568"/>
            <a:ext cx="725420" cy="7254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Parallelogram 30">
            <a:extLst>
              <a:ext uri="{FF2B5EF4-FFF2-40B4-BE49-F238E27FC236}">
                <a16:creationId xmlns:a16="http://schemas.microsoft.com/office/drawing/2014/main" id="{71310227-373B-7063-060C-85D23B6BE5C4}"/>
              </a:ext>
            </a:extLst>
          </p:cNvPr>
          <p:cNvSpPr/>
          <p:nvPr/>
        </p:nvSpPr>
        <p:spPr>
          <a:xfrm flipH="1">
            <a:off x="8359514" y="2645165"/>
            <a:ext cx="352805" cy="353677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9" name="Oval 95">
            <a:extLst>
              <a:ext uri="{FF2B5EF4-FFF2-40B4-BE49-F238E27FC236}">
                <a16:creationId xmlns:a16="http://schemas.microsoft.com/office/drawing/2014/main" id="{682D3344-EFE6-BB49-02D4-CE9429FF3AFC}"/>
              </a:ext>
            </a:extLst>
          </p:cNvPr>
          <p:cNvSpPr/>
          <p:nvPr/>
        </p:nvSpPr>
        <p:spPr>
          <a:xfrm>
            <a:off x="3362698" y="2368306"/>
            <a:ext cx="725420" cy="7254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Parallelogram 30">
            <a:extLst>
              <a:ext uri="{FF2B5EF4-FFF2-40B4-BE49-F238E27FC236}">
                <a16:creationId xmlns:a16="http://schemas.microsoft.com/office/drawing/2014/main" id="{F89ECDCB-7F3A-267C-12E1-7B3CDBE68551}"/>
              </a:ext>
            </a:extLst>
          </p:cNvPr>
          <p:cNvSpPr/>
          <p:nvPr/>
        </p:nvSpPr>
        <p:spPr>
          <a:xfrm flipH="1">
            <a:off x="3539035" y="2578903"/>
            <a:ext cx="352805" cy="353677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1" name="Oval 95">
            <a:extLst>
              <a:ext uri="{FF2B5EF4-FFF2-40B4-BE49-F238E27FC236}">
                <a16:creationId xmlns:a16="http://schemas.microsoft.com/office/drawing/2014/main" id="{DE00E910-1647-1D9D-3121-30679C6EC595}"/>
              </a:ext>
            </a:extLst>
          </p:cNvPr>
          <p:cNvSpPr/>
          <p:nvPr/>
        </p:nvSpPr>
        <p:spPr>
          <a:xfrm>
            <a:off x="7429459" y="3933719"/>
            <a:ext cx="725420" cy="7254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Parallelogram 30">
            <a:extLst>
              <a:ext uri="{FF2B5EF4-FFF2-40B4-BE49-F238E27FC236}">
                <a16:creationId xmlns:a16="http://schemas.microsoft.com/office/drawing/2014/main" id="{8AFBE2A3-81E4-1E54-02B9-6E00D31676CE}"/>
              </a:ext>
            </a:extLst>
          </p:cNvPr>
          <p:cNvSpPr/>
          <p:nvPr/>
        </p:nvSpPr>
        <p:spPr>
          <a:xfrm flipH="1">
            <a:off x="7605795" y="4144316"/>
            <a:ext cx="352805" cy="353677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4" name="Rounded Rectangle 51">
            <a:extLst>
              <a:ext uri="{FF2B5EF4-FFF2-40B4-BE49-F238E27FC236}">
                <a16:creationId xmlns:a16="http://schemas.microsoft.com/office/drawing/2014/main" id="{F142E21B-C67C-AE29-D460-AB3518CD5CEB}"/>
              </a:ext>
            </a:extLst>
          </p:cNvPr>
          <p:cNvSpPr/>
          <p:nvPr/>
        </p:nvSpPr>
        <p:spPr>
          <a:xfrm rot="16200000" flipH="1">
            <a:off x="5707782" y="2054907"/>
            <a:ext cx="887928" cy="821753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964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74FBFF08-2E0A-462B-B606-3B2FE4EFB4F2}"/>
              </a:ext>
            </a:extLst>
          </p:cNvPr>
          <p:cNvGrpSpPr/>
          <p:nvPr/>
        </p:nvGrpSpPr>
        <p:grpSpPr>
          <a:xfrm>
            <a:off x="5350915" y="5306456"/>
            <a:ext cx="1390467" cy="1197039"/>
            <a:chOff x="7521194" y="5284915"/>
            <a:chExt cx="1137987" cy="979683"/>
          </a:xfrm>
        </p:grpSpPr>
        <p:grpSp>
          <p:nvGrpSpPr>
            <p:cNvPr id="53" name="Group 7">
              <a:extLst>
                <a:ext uri="{FF2B5EF4-FFF2-40B4-BE49-F238E27FC236}">
                  <a16:creationId xmlns:a16="http://schemas.microsoft.com/office/drawing/2014/main" id="{2F2228D5-8E9C-4936-B84B-70A0BFBB8451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5" name="Trapezoid 1">
                <a:extLst>
                  <a:ext uri="{FF2B5EF4-FFF2-40B4-BE49-F238E27FC236}">
                    <a16:creationId xmlns:a16="http://schemas.microsoft.com/office/drawing/2014/main" id="{2048F6C8-4AD1-4541-8681-5A6AD663D6C5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Trapezoid 6">
                <a:extLst>
                  <a:ext uri="{FF2B5EF4-FFF2-40B4-BE49-F238E27FC236}">
                    <a16:creationId xmlns:a16="http://schemas.microsoft.com/office/drawing/2014/main" id="{A35447A5-8B40-48CE-BD46-F86049A1CF37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5">
                <a:extLst>
                  <a:ext uri="{FF2B5EF4-FFF2-40B4-BE49-F238E27FC236}">
                    <a16:creationId xmlns:a16="http://schemas.microsoft.com/office/drawing/2014/main" id="{72A635B7-F7B7-4AC0-B544-8389F72321CD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Chord 23">
              <a:extLst>
                <a:ext uri="{FF2B5EF4-FFF2-40B4-BE49-F238E27FC236}">
                  <a16:creationId xmlns:a16="http://schemas.microsoft.com/office/drawing/2014/main" id="{9CEB90CC-0E30-4622-83DD-35E853BCCEB3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18803" y="373453"/>
            <a:ext cx="11573197" cy="724247"/>
          </a:xfrm>
        </p:spPr>
        <p:txBody>
          <a:bodyPr lIns="91440" tIns="45720" rIns="91440" bIns="45720" anchor="ctr"/>
          <a:lstStyle/>
          <a:p>
            <a:r>
              <a:rPr lang="en-US" sz="3200" dirty="0">
                <a:ea typeface="+mj-lt"/>
                <a:cs typeface="+mj-lt"/>
              </a:rPr>
              <a:t>Set up ML environment </a:t>
            </a:r>
            <a:endParaRPr 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0305EE0-B839-4405-9DCE-09602FA5BF0C}"/>
              </a:ext>
            </a:extLst>
          </p:cNvPr>
          <p:cNvGrpSpPr/>
          <p:nvPr/>
        </p:nvGrpSpPr>
        <p:grpSpPr>
          <a:xfrm>
            <a:off x="4923868" y="1609084"/>
            <a:ext cx="1249054" cy="1606738"/>
            <a:chOff x="4601988" y="3272228"/>
            <a:chExt cx="1249054" cy="1606738"/>
          </a:xfrm>
          <a:solidFill>
            <a:schemeClr val="accent1"/>
          </a:solidFill>
        </p:grpSpPr>
        <p:sp>
          <p:nvSpPr>
            <p:cNvPr id="7" name="Rounded Rectangle 15">
              <a:extLst>
                <a:ext uri="{FF2B5EF4-FFF2-40B4-BE49-F238E27FC236}">
                  <a16:creationId xmlns:a16="http://schemas.microsoft.com/office/drawing/2014/main" id="{F8B737C6-EBC3-4CBE-B901-B53F76932213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Isosceles Triangle 75">
              <a:extLst>
                <a:ext uri="{FF2B5EF4-FFF2-40B4-BE49-F238E27FC236}">
                  <a16:creationId xmlns:a16="http://schemas.microsoft.com/office/drawing/2014/main" id="{86935DC4-0FAC-4375-B2F2-AA589DD2DC9B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Group 78">
            <a:extLst>
              <a:ext uri="{FF2B5EF4-FFF2-40B4-BE49-F238E27FC236}">
                <a16:creationId xmlns:a16="http://schemas.microsoft.com/office/drawing/2014/main" id="{94A8772D-9BA2-42A1-AC2A-72FA88009FF0}"/>
              </a:ext>
            </a:extLst>
          </p:cNvPr>
          <p:cNvGrpSpPr/>
          <p:nvPr/>
        </p:nvGrpSpPr>
        <p:grpSpPr>
          <a:xfrm>
            <a:off x="7907405" y="2155012"/>
            <a:ext cx="3533147" cy="1290592"/>
            <a:chOff x="270025" y="1633792"/>
            <a:chExt cx="3180927" cy="13034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B0565A-DF15-4D08-96C3-44F102335063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102581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Ensemble of multiple decision trees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Reduces overfitting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More robust to noise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Better generalization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  <a:p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117510-36C1-48B0-AAEA-56982A1407CB}"/>
                </a:ext>
              </a:extLst>
            </p:cNvPr>
            <p:cNvSpPr txBox="1"/>
            <p:nvPr/>
          </p:nvSpPr>
          <p:spPr>
            <a:xfrm>
              <a:off x="270088" y="1633792"/>
              <a:ext cx="3180864" cy="2797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Random Forest Regressor</a:t>
              </a:r>
              <a:endPara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ABA02BA4-98D2-4F3B-A0AE-B81F3D37FB13}"/>
              </a:ext>
            </a:extLst>
          </p:cNvPr>
          <p:cNvGrpSpPr/>
          <p:nvPr/>
        </p:nvGrpSpPr>
        <p:grpSpPr>
          <a:xfrm>
            <a:off x="7907404" y="3561596"/>
            <a:ext cx="3533077" cy="1807449"/>
            <a:chOff x="270024" y="1671304"/>
            <a:chExt cx="3180864" cy="182552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44ACCB-6B81-4C86-BCB8-2FBEA577A027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15853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Created new feature: Growing Days</a:t>
              </a: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Calculated as harvest date minus sowing date.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Feature scaling using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StandardScaler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We need to scale features in ML because many algorithms are sensitive to the range and distribution of input values.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Xscaled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=X−mean(X) / std(X) </a:t>
              </a:r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marL="171450" indent="-171450">
                <a:buFont typeface="Arial"/>
                <a:buChar char="•"/>
              </a:pP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58223A-F305-4526-A107-3D35A34D9C44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 dirty="0">
                  <a:ea typeface="+mn-lt"/>
                  <a:cs typeface="+mn-lt"/>
                </a:rPr>
                <a:t>Feature Engineering &amp; Scaling</a:t>
              </a:r>
              <a:endParaRPr lang="en-US" altLang="ko-KR" b="1" dirty="0">
                <a:cs typeface="Arial"/>
              </a:endParaRPr>
            </a:p>
          </p:txBody>
        </p:sp>
      </p:grpSp>
      <p:grpSp>
        <p:nvGrpSpPr>
          <p:cNvPr id="20" name="Group 84">
            <a:extLst>
              <a:ext uri="{FF2B5EF4-FFF2-40B4-BE49-F238E27FC236}">
                <a16:creationId xmlns:a16="http://schemas.microsoft.com/office/drawing/2014/main" id="{9B5BB089-9971-47FC-9F06-A9F67896593B}"/>
              </a:ext>
            </a:extLst>
          </p:cNvPr>
          <p:cNvGrpSpPr/>
          <p:nvPr/>
        </p:nvGrpSpPr>
        <p:grpSpPr>
          <a:xfrm>
            <a:off x="1301239" y="1475787"/>
            <a:ext cx="3144837" cy="884123"/>
            <a:chOff x="270024" y="1671304"/>
            <a:chExt cx="3180864" cy="89296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AE8DBD-CCA1-4E04-BCF7-6968E24011F2}"/>
                </a:ext>
              </a:extLst>
            </p:cNvPr>
            <p:cNvSpPr txBox="1"/>
            <p:nvPr/>
          </p:nvSpPr>
          <p:spPr>
            <a:xfrm>
              <a:off x="270025" y="1911474"/>
              <a:ext cx="3180863" cy="65279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Mean Squared Error (MSE)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R² Score</a:t>
              </a: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914E03-45BE-4C73-9033-8A442698328C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 dirty="0">
                  <a:ea typeface="+mn-lt"/>
                  <a:cs typeface="+mn-lt"/>
                </a:rPr>
                <a:t>Model Evaluation Metrics</a:t>
              </a:r>
              <a:endParaRPr lang="en-US" b="1" dirty="0">
                <a:cs typeface="Arial"/>
              </a:endParaRPr>
            </a:p>
          </p:txBody>
        </p:sp>
      </p:grpSp>
      <p:grpSp>
        <p:nvGrpSpPr>
          <p:cNvPr id="23" name="Group 87">
            <a:extLst>
              <a:ext uri="{FF2B5EF4-FFF2-40B4-BE49-F238E27FC236}">
                <a16:creationId xmlns:a16="http://schemas.microsoft.com/office/drawing/2014/main" id="{106A8AB4-6827-48F3-BA5D-A421B1806A1A}"/>
              </a:ext>
            </a:extLst>
          </p:cNvPr>
          <p:cNvGrpSpPr/>
          <p:nvPr/>
        </p:nvGrpSpPr>
        <p:grpSpPr>
          <a:xfrm>
            <a:off x="1033705" y="2883685"/>
            <a:ext cx="3493848" cy="1068787"/>
            <a:chOff x="270024" y="1671304"/>
            <a:chExt cx="3180864" cy="107947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BDF4FF-0B88-496B-9097-4A7996AE1ED1}"/>
                </a:ext>
              </a:extLst>
            </p:cNvPr>
            <p:cNvSpPr txBox="1"/>
            <p:nvPr/>
          </p:nvSpPr>
          <p:spPr>
            <a:xfrm>
              <a:off x="270025" y="1911472"/>
              <a:ext cx="3180863" cy="83930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14300" indent="-114300">
                <a:buFont typeface="Arial"/>
                <a:buChar char="•"/>
              </a:pPr>
              <a:r>
                <a:rPr lang="en-US" sz="1200" dirty="0">
                  <a:ea typeface="+mn-lt"/>
                  <a:cs typeface="+mn-lt"/>
                </a:rPr>
                <a:t>Tree-based model using if–else rules</a:t>
              </a:r>
              <a:endParaRPr lang="en-US" dirty="0">
                <a:cs typeface="Arial"/>
              </a:endParaRPr>
            </a:p>
            <a:p>
              <a:pPr marL="114300" indent="-114300">
                <a:buFont typeface="Arial"/>
                <a:buChar char="•"/>
              </a:pPr>
              <a:r>
                <a:rPr lang="en-US" sz="1200" dirty="0">
                  <a:ea typeface="+mn-lt"/>
                  <a:cs typeface="+mn-lt"/>
                </a:rPr>
                <a:t>Easy to interpret</a:t>
              </a:r>
              <a:endParaRPr lang="en-US" dirty="0">
                <a:cs typeface="Arial"/>
              </a:endParaRPr>
            </a:p>
            <a:p>
              <a:pPr marL="114300" indent="-114300">
                <a:buFont typeface="Arial"/>
                <a:buChar char="•"/>
              </a:pPr>
              <a:r>
                <a:rPr lang="en-US" sz="1200" dirty="0">
                  <a:ea typeface="+mn-lt"/>
                  <a:cs typeface="+mn-lt"/>
                </a:rPr>
                <a:t>Can overfit the data</a:t>
              </a:r>
              <a:endParaRPr lang="en-US" dirty="0">
                <a:cs typeface="Arial"/>
              </a:endParaRPr>
            </a:p>
            <a:p>
              <a:pPr marL="114300" indent="171450"/>
              <a:endParaRPr lang="en-US" altLang="ko-KR" sz="1200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072632-598F-432D-AE08-DF953F2E84EA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 dirty="0">
                  <a:ea typeface="+mn-lt"/>
                  <a:cs typeface="+mn-lt"/>
                </a:rPr>
                <a:t>Decision Tree Regressor</a:t>
              </a:r>
              <a:endParaRPr lang="en-US" altLang="ko-KR" b="1" dirty="0">
                <a:cs typeface="Arial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FCAB225-5731-4EA2-8B75-9D5AE851240D}"/>
              </a:ext>
            </a:extLst>
          </p:cNvPr>
          <p:cNvGrpSpPr/>
          <p:nvPr/>
        </p:nvGrpSpPr>
        <p:grpSpPr>
          <a:xfrm flipH="1">
            <a:off x="5955407" y="2358064"/>
            <a:ext cx="1249054" cy="1606738"/>
            <a:chOff x="4601988" y="3272228"/>
            <a:chExt cx="1249054" cy="1606738"/>
          </a:xfrm>
          <a:solidFill>
            <a:schemeClr val="accent2"/>
          </a:solidFill>
        </p:grpSpPr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320F12A-7BB2-455C-80A3-633448BA5BE8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Isosceles Triangle 75">
              <a:extLst>
                <a:ext uri="{FF2B5EF4-FFF2-40B4-BE49-F238E27FC236}">
                  <a16:creationId xmlns:a16="http://schemas.microsoft.com/office/drawing/2014/main" id="{5A1E3C90-4A6E-42CC-81E6-EBA4095AEAF5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Group 87">
            <a:extLst>
              <a:ext uri="{FF2B5EF4-FFF2-40B4-BE49-F238E27FC236}">
                <a16:creationId xmlns:a16="http://schemas.microsoft.com/office/drawing/2014/main" id="{0E03B7FF-5299-44A5-866D-7AB4C9AB451E}"/>
              </a:ext>
            </a:extLst>
          </p:cNvPr>
          <p:cNvGrpSpPr/>
          <p:nvPr/>
        </p:nvGrpSpPr>
        <p:grpSpPr>
          <a:xfrm>
            <a:off x="977651" y="4261460"/>
            <a:ext cx="3447062" cy="882381"/>
            <a:chOff x="270024" y="1671304"/>
            <a:chExt cx="3180864" cy="89778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3E3D1B0-D8F7-4231-A5B2-F5991A0CC74C}"/>
                </a:ext>
              </a:extLst>
            </p:cNvPr>
            <p:cNvSpPr txBox="1"/>
            <p:nvPr/>
          </p:nvSpPr>
          <p:spPr>
            <a:xfrm>
              <a:off x="270025" y="1911473"/>
              <a:ext cx="3180863" cy="65761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14300" indent="-114300">
                <a:buFont typeface="Arial"/>
                <a:buChar char="•"/>
              </a:pPr>
              <a:r>
                <a:rPr lang="en-US" sz="1200">
                  <a:ea typeface="+mn-lt"/>
                  <a:cs typeface="+mn-lt"/>
                </a:rPr>
                <a:t>Handling missing values using median</a:t>
              </a:r>
              <a:endParaRPr lang="en-US">
                <a:ea typeface="+mn-lt"/>
                <a:cs typeface="+mn-lt"/>
              </a:endParaRPr>
            </a:p>
            <a:p>
              <a:pPr marL="114300" indent="-114300">
                <a:buFont typeface="Arial"/>
                <a:buChar char="•"/>
              </a:pPr>
              <a:r>
                <a:rPr lang="en-US" sz="1200" dirty="0">
                  <a:ea typeface="+mn-lt"/>
                  <a:cs typeface="+mn-lt"/>
                </a:rPr>
                <a:t>Date conversion to datetime format</a:t>
              </a:r>
              <a:endParaRPr lang="en-US" dirty="0">
                <a:cs typeface="Arial"/>
              </a:endParaRPr>
            </a:p>
            <a:p>
              <a:pPr marL="114300" indent="-114300">
                <a:buFont typeface="Arial"/>
                <a:buChar char="•"/>
              </a:pPr>
              <a:r>
                <a:rPr lang="en-US" sz="1200" dirty="0">
                  <a:ea typeface="+mn-lt"/>
                  <a:cs typeface="+mn-lt"/>
                </a:rPr>
                <a:t>Train-test split (80% training, 20% testing)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669A28-1466-48C5-8AEC-1FFB6EC1DEBD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 dirty="0">
                  <a:ea typeface="+mn-lt"/>
                  <a:cs typeface="+mn-lt"/>
                </a:rPr>
                <a:t>Data Preprocessing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5603A70-613E-4920-8165-21388C49447A}"/>
              </a:ext>
            </a:extLst>
          </p:cNvPr>
          <p:cNvGrpSpPr/>
          <p:nvPr/>
        </p:nvGrpSpPr>
        <p:grpSpPr>
          <a:xfrm>
            <a:off x="4930968" y="3036704"/>
            <a:ext cx="1249054" cy="1606738"/>
            <a:chOff x="4930968" y="3088958"/>
            <a:chExt cx="1249054" cy="1606738"/>
          </a:xfrm>
        </p:grpSpPr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404C8AF2-02DB-4FEB-9B47-DAA8C7B37ACF}"/>
                </a:ext>
              </a:extLst>
            </p:cNvPr>
            <p:cNvSpPr/>
            <p:nvPr/>
          </p:nvSpPr>
          <p:spPr>
            <a:xfrm rot="5400000">
              <a:off x="5025814" y="354148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Isosceles Triangle 75">
              <a:extLst>
                <a:ext uri="{FF2B5EF4-FFF2-40B4-BE49-F238E27FC236}">
                  <a16:creationId xmlns:a16="http://schemas.microsoft.com/office/drawing/2014/main" id="{2F4B0633-1D3B-4C50-8FF6-A9DFD54F93B4}"/>
                </a:ext>
              </a:extLst>
            </p:cNvPr>
            <p:cNvSpPr/>
            <p:nvPr/>
          </p:nvSpPr>
          <p:spPr>
            <a:xfrm rot="16200000">
              <a:off x="4895165" y="3124761"/>
              <a:ext cx="519134" cy="447528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DFE6720-D930-43EB-A311-48D7A6A2AE08}"/>
              </a:ext>
            </a:extLst>
          </p:cNvPr>
          <p:cNvGrpSpPr/>
          <p:nvPr/>
        </p:nvGrpSpPr>
        <p:grpSpPr>
          <a:xfrm flipH="1">
            <a:off x="5955407" y="3744921"/>
            <a:ext cx="1249054" cy="1606738"/>
            <a:chOff x="4601988" y="3272228"/>
            <a:chExt cx="1249054" cy="1606738"/>
          </a:xfrm>
          <a:solidFill>
            <a:schemeClr val="accent4"/>
          </a:solidFill>
        </p:grpSpPr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41AA9A48-26FF-4DBE-AC28-BE9DB819C2F9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Isosceles Triangle 75">
              <a:extLst>
                <a:ext uri="{FF2B5EF4-FFF2-40B4-BE49-F238E27FC236}">
                  <a16:creationId xmlns:a16="http://schemas.microsoft.com/office/drawing/2014/main" id="{6825A1B0-2F28-4FF6-9553-D03E8DAA13B7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1783918-777C-4C71-9228-62D2982487B6}"/>
              </a:ext>
            </a:extLst>
          </p:cNvPr>
          <p:cNvGrpSpPr/>
          <p:nvPr/>
        </p:nvGrpSpPr>
        <p:grpSpPr>
          <a:xfrm>
            <a:off x="4930968" y="4411711"/>
            <a:ext cx="1241955" cy="974654"/>
            <a:chOff x="4930968" y="4463965"/>
            <a:chExt cx="1241955" cy="974654"/>
          </a:xfrm>
        </p:grpSpPr>
        <p:sp>
          <p:nvSpPr>
            <p:cNvPr id="36" name="Rounded Rectangle 15">
              <a:extLst>
                <a:ext uri="{FF2B5EF4-FFF2-40B4-BE49-F238E27FC236}">
                  <a16:creationId xmlns:a16="http://schemas.microsoft.com/office/drawing/2014/main" id="{F31BAE51-1B56-465D-9DC5-78B4433361C5}"/>
                </a:ext>
              </a:extLst>
            </p:cNvPr>
            <p:cNvSpPr/>
            <p:nvPr/>
          </p:nvSpPr>
          <p:spPr>
            <a:xfrm rot="5400000">
              <a:off x="5264269" y="4529966"/>
              <a:ext cx="828889" cy="988418"/>
            </a:xfrm>
            <a:custGeom>
              <a:avLst/>
              <a:gdLst/>
              <a:ahLst/>
              <a:cxnLst/>
              <a:rect l="l" t="t" r="r" b="b"/>
              <a:pathLst>
                <a:path w="694060" h="935571">
                  <a:moveTo>
                    <a:pt x="0" y="406646"/>
                  </a:moveTo>
                  <a:lnTo>
                    <a:pt x="0" y="935571"/>
                  </a:lnTo>
                  <a:lnTo>
                    <a:pt x="211832" y="935571"/>
                  </a:lnTo>
                  <a:lnTo>
                    <a:pt x="211832" y="444434"/>
                  </a:lnTo>
                  <a:cubicBezTo>
                    <a:pt x="211832" y="316040"/>
                    <a:pt x="315916" y="211956"/>
                    <a:pt x="444310" y="211956"/>
                  </a:cubicBezTo>
                  <a:lnTo>
                    <a:pt x="694060" y="211956"/>
                  </a:lnTo>
                  <a:lnTo>
                    <a:pt x="694060" y="0"/>
                  </a:lnTo>
                  <a:lnTo>
                    <a:pt x="406646" y="0"/>
                  </a:lnTo>
                  <a:cubicBezTo>
                    <a:pt x="182062" y="0"/>
                    <a:pt x="0" y="182062"/>
                    <a:pt x="0" y="4066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Isosceles Triangle 74">
              <a:extLst>
                <a:ext uri="{FF2B5EF4-FFF2-40B4-BE49-F238E27FC236}">
                  <a16:creationId xmlns:a16="http://schemas.microsoft.com/office/drawing/2014/main" id="{074B553C-94E6-40A9-B5B0-DA6CEBF4936D}"/>
                </a:ext>
              </a:extLst>
            </p:cNvPr>
            <p:cNvSpPr/>
            <p:nvPr/>
          </p:nvSpPr>
          <p:spPr>
            <a:xfrm rot="16200000" flipH="1">
              <a:off x="4895165" y="4499768"/>
              <a:ext cx="519134" cy="447528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9" name="Round Same Side Corner Rectangle 11">
            <a:extLst>
              <a:ext uri="{FF2B5EF4-FFF2-40B4-BE49-F238E27FC236}">
                <a16:creationId xmlns:a16="http://schemas.microsoft.com/office/drawing/2014/main" id="{612B2EFF-5E94-43ED-8C8F-BF5DBC0BFE40}"/>
              </a:ext>
            </a:extLst>
          </p:cNvPr>
          <p:cNvSpPr>
            <a:spLocks noChangeAspect="1"/>
          </p:cNvSpPr>
          <p:nvPr/>
        </p:nvSpPr>
        <p:spPr>
          <a:xfrm rot="9900000">
            <a:off x="7336844" y="2424739"/>
            <a:ext cx="459464" cy="3902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Donut 24">
            <a:extLst>
              <a:ext uri="{FF2B5EF4-FFF2-40B4-BE49-F238E27FC236}">
                <a16:creationId xmlns:a16="http://schemas.microsoft.com/office/drawing/2014/main" id="{CB04B940-4FE8-4B53-A0FF-D6581AA8F939}"/>
              </a:ext>
            </a:extLst>
          </p:cNvPr>
          <p:cNvSpPr/>
          <p:nvPr/>
        </p:nvSpPr>
        <p:spPr>
          <a:xfrm>
            <a:off x="7305212" y="3801767"/>
            <a:ext cx="458555" cy="462288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Oval 21">
            <a:extLst>
              <a:ext uri="{FF2B5EF4-FFF2-40B4-BE49-F238E27FC236}">
                <a16:creationId xmlns:a16="http://schemas.microsoft.com/office/drawing/2014/main" id="{C5DB3272-8CCD-429C-BB91-3108DD17BE56}"/>
              </a:ext>
            </a:extLst>
          </p:cNvPr>
          <p:cNvSpPr>
            <a:spLocks noChangeAspect="1"/>
          </p:cNvSpPr>
          <p:nvPr/>
        </p:nvSpPr>
        <p:spPr>
          <a:xfrm>
            <a:off x="4425476" y="3114665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Rounded Rectangle 51">
            <a:extLst>
              <a:ext uri="{FF2B5EF4-FFF2-40B4-BE49-F238E27FC236}">
                <a16:creationId xmlns:a16="http://schemas.microsoft.com/office/drawing/2014/main" id="{8B5E9BA3-4651-030F-6063-C39EB014BCB5}"/>
              </a:ext>
            </a:extLst>
          </p:cNvPr>
          <p:cNvSpPr/>
          <p:nvPr/>
        </p:nvSpPr>
        <p:spPr>
          <a:xfrm rot="16200000" flipH="1">
            <a:off x="4417515" y="1682450"/>
            <a:ext cx="417409" cy="40148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Oval 25">
            <a:extLst>
              <a:ext uri="{FF2B5EF4-FFF2-40B4-BE49-F238E27FC236}">
                <a16:creationId xmlns:a16="http://schemas.microsoft.com/office/drawing/2014/main" id="{BC26CA92-FF43-353B-AFD3-3D2C4487188E}"/>
              </a:ext>
            </a:extLst>
          </p:cNvPr>
          <p:cNvSpPr>
            <a:spLocks noChangeAspect="1"/>
          </p:cNvSpPr>
          <p:nvPr/>
        </p:nvSpPr>
        <p:spPr>
          <a:xfrm>
            <a:off x="4473838" y="4466919"/>
            <a:ext cx="446201" cy="446810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09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F59A-B050-24EF-836B-6DF141A8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AC7EED-6DD0-019D-0141-6034923509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367" y="2280249"/>
            <a:ext cx="6444916" cy="2422312"/>
          </a:xfrm>
        </p:spPr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Machine Learning Algorithms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436EE6-6562-F172-C2CF-3D671670E5F8}"/>
              </a:ext>
            </a:extLst>
          </p:cNvPr>
          <p:cNvGrpSpPr/>
          <p:nvPr/>
        </p:nvGrpSpPr>
        <p:grpSpPr>
          <a:xfrm rot="20859410">
            <a:off x="11001304" y="2835381"/>
            <a:ext cx="529390" cy="985497"/>
            <a:chOff x="9208167" y="1960736"/>
            <a:chExt cx="529390" cy="98549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C9F80DE-20A6-D3B5-B51A-A3E1BCFF2834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A17020-4C67-939F-6548-0AF1D447ED46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44CA471-3B6C-21D8-FE33-F518C4E0EAB2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1847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8FD15-9AA8-F0E1-EA87-CBC1DC75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D5F97A-375B-9152-DB23-54645ECCCC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Decision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3E50D-FCBD-4030-991B-334EC1A74788}"/>
              </a:ext>
            </a:extLst>
          </p:cNvPr>
          <p:cNvSpPr txBox="1"/>
          <p:nvPr/>
        </p:nvSpPr>
        <p:spPr>
          <a:xfrm>
            <a:off x="249167" y="1472718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/>
              </a:rPr>
              <a:t>DT</a:t>
            </a:r>
            <a:endParaRPr lang="en-US" altLang="ko-KR" sz="4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A94FB-DD19-CA41-DEF5-F9AB3466E6B6}"/>
              </a:ext>
            </a:extLst>
          </p:cNvPr>
          <p:cNvSpPr txBox="1"/>
          <p:nvPr/>
        </p:nvSpPr>
        <p:spPr>
          <a:xfrm>
            <a:off x="1534815" y="1644936"/>
            <a:ext cx="509030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 supervised machine learning algorithm used for classification and regression.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CDB8582-D899-9FED-0C31-129D3B306E33}"/>
              </a:ext>
            </a:extLst>
          </p:cNvPr>
          <p:cNvSpPr txBox="1">
            <a:spLocks/>
          </p:cNvSpPr>
          <p:nvPr/>
        </p:nvSpPr>
        <p:spPr>
          <a:xfrm>
            <a:off x="689858" y="2269212"/>
            <a:ext cx="1824785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How it works?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4F2DA5-43A9-19CC-0CC1-D1EA5E4EF631}"/>
              </a:ext>
            </a:extLst>
          </p:cNvPr>
          <p:cNvSpPr txBox="1"/>
          <p:nvPr/>
        </p:nvSpPr>
        <p:spPr>
          <a:xfrm>
            <a:off x="631662" y="2663171"/>
            <a:ext cx="6410403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Start at the root node with all data.</a:t>
            </a:r>
            <a:endParaRPr lang="en-US" sz="1600" dirty="0"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Split data using the feature that best separates classes (or minimizes error).</a:t>
            </a:r>
            <a:endParaRPr lang="en-US" sz="1600"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Repeat recursively to form branches until stopping criteria (max depth, min samples) are met.</a:t>
            </a:r>
            <a:endParaRPr lang="en-US" sz="16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Leaf nodes give the final prediction.</a:t>
            </a:r>
            <a:endParaRPr lang="en-US" sz="1600" dirty="0">
              <a:cs typeface="Arial"/>
            </a:endParaRPr>
          </a:p>
          <a:p>
            <a:endParaRPr lang="en-US" sz="1600" dirty="0">
              <a:cs typeface="Arial"/>
            </a:endParaRPr>
          </a:p>
          <a:p>
            <a:r>
              <a:rPr lang="en-US" sz="1600" b="1" dirty="0">
                <a:ea typeface="+mn-lt"/>
                <a:cs typeface="+mn-lt"/>
              </a:rPr>
              <a:t>Key Features:</a:t>
            </a:r>
            <a:endParaRPr lang="en-US" sz="1600" b="1"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Simple to understand and interpret.</a:t>
            </a:r>
            <a:endParaRPr lang="en-US" sz="16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Can handle numerical and categorical data.</a:t>
            </a:r>
            <a:endParaRPr lang="en-US" sz="16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Prone to overfitting if the tree is too deep.</a:t>
            </a:r>
            <a:endParaRPr lang="en-US" sz="1600">
              <a:ea typeface="+mn-lt"/>
              <a:cs typeface="+mn-lt"/>
            </a:endParaRPr>
          </a:p>
          <a:p>
            <a:endParaRPr lang="en-US" sz="1600" dirty="0">
              <a:ea typeface="+mn-lt"/>
              <a:cs typeface="+mn-lt"/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046F6CF9-7E03-70EA-43A2-09084228B1B5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F2024F9C-47A0-760B-2888-D75432C2F1D0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4" name="Picture 3" descr="What is a Decision Tree? - Displayr">
            <a:extLst>
              <a:ext uri="{FF2B5EF4-FFF2-40B4-BE49-F238E27FC236}">
                <a16:creationId xmlns:a16="http://schemas.microsoft.com/office/drawing/2014/main" id="{D893D3A8-D4F3-CB5F-A315-146CD326C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013" y="1236453"/>
            <a:ext cx="4772691" cy="33067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24142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EC1D6-9E62-942F-62C9-4242E99CA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tree&#10;&#10;AI-generated content may be incorrect.">
            <a:extLst>
              <a:ext uri="{FF2B5EF4-FFF2-40B4-BE49-F238E27FC236}">
                <a16:creationId xmlns:a16="http://schemas.microsoft.com/office/drawing/2014/main" id="{6F823C94-FE75-D9D3-6FAA-18B64E75F5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1" t="5809" r="288" b="415"/>
          <a:stretch>
            <a:fillRect/>
          </a:stretch>
        </p:blipFill>
        <p:spPr>
          <a:xfrm>
            <a:off x="6795165" y="1322716"/>
            <a:ext cx="5101831" cy="33508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D14E0A-2F45-F871-5CE0-25B32E8C95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Random Forest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6FEBA-9298-C15B-C87B-45D83176BAD2}"/>
              </a:ext>
            </a:extLst>
          </p:cNvPr>
          <p:cNvSpPr txBox="1"/>
          <p:nvPr/>
        </p:nvSpPr>
        <p:spPr>
          <a:xfrm>
            <a:off x="249167" y="1472718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/>
              </a:rPr>
              <a:t>RF</a:t>
            </a:r>
            <a:endParaRPr lang="en-US" altLang="ko-KR" sz="4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139D2-08AC-117C-41DA-31424931E762}"/>
              </a:ext>
            </a:extLst>
          </p:cNvPr>
          <p:cNvSpPr txBox="1"/>
          <p:nvPr/>
        </p:nvSpPr>
        <p:spPr>
          <a:xfrm>
            <a:off x="1534815" y="1644936"/>
            <a:ext cx="509030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An ensemble machine learning method that combines many decision trees.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4F72603-39B0-5604-1400-37003941F0BF}"/>
              </a:ext>
            </a:extLst>
          </p:cNvPr>
          <p:cNvSpPr txBox="1">
            <a:spLocks/>
          </p:cNvSpPr>
          <p:nvPr/>
        </p:nvSpPr>
        <p:spPr>
          <a:xfrm>
            <a:off x="689858" y="2269212"/>
            <a:ext cx="1824785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How it works?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410C4-37A8-5D1D-629A-939806C268ED}"/>
              </a:ext>
            </a:extLst>
          </p:cNvPr>
          <p:cNvSpPr txBox="1"/>
          <p:nvPr/>
        </p:nvSpPr>
        <p:spPr>
          <a:xfrm>
            <a:off x="631662" y="2663171"/>
            <a:ext cx="6410403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Randomly sample data</a:t>
            </a: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Grow multiple decision trees using random feature subsets.</a:t>
            </a: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Aggregate predictions:</a:t>
            </a:r>
            <a:endParaRPr lang="en-US" sz="1600">
              <a:ea typeface="+mn-lt"/>
              <a:cs typeface="+mn-lt"/>
            </a:endParaRPr>
          </a:p>
          <a:p>
            <a:pPr marL="742315" lvl="1" indent="-285750">
              <a:buFont typeface="Courier New"/>
              <a:buChar char="o"/>
            </a:pPr>
            <a:r>
              <a:rPr lang="en-US" sz="1600" dirty="0">
                <a:ea typeface="+mn-lt"/>
                <a:cs typeface="+mn-lt"/>
              </a:rPr>
              <a:t>Majority vote for classification</a:t>
            </a:r>
            <a:endParaRPr lang="en-US" sz="1600">
              <a:cs typeface="Arial"/>
            </a:endParaRPr>
          </a:p>
          <a:p>
            <a:pPr marL="742315" lvl="1" indent="-285750">
              <a:buFont typeface="Courier New"/>
              <a:buChar char="o"/>
            </a:pPr>
            <a:r>
              <a:rPr lang="en-US" sz="1600" dirty="0">
                <a:ea typeface="+mn-lt"/>
                <a:cs typeface="+mn-lt"/>
              </a:rPr>
              <a:t>Average for regression</a:t>
            </a:r>
            <a:endParaRPr lang="en-US" sz="1600">
              <a:cs typeface="Arial"/>
            </a:endParaRP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Key Features:</a:t>
            </a:r>
            <a:endParaRPr lang="en-US" sz="1600" b="1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Reduces overfitting compared to a single decision tree.</a:t>
            </a:r>
            <a:endParaRPr lang="en-US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Handles both classification and regression tasks.</a:t>
            </a:r>
            <a:endParaRPr lang="en-US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Robust to noise and missing values.</a:t>
            </a:r>
            <a:endParaRPr lang="en-US" sz="1600">
              <a:ea typeface="+mn-lt"/>
              <a:cs typeface="+mn-lt"/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39A26F31-D39F-40C0-8201-DC5DED5C2B0A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15C234C5-49A3-CBDE-9355-8694BA08C650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462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269BE-B76E-6C21-0511-CDCAFC2DA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FE7FDE-DFEC-B185-9407-6D407E527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367" y="2280249"/>
            <a:ext cx="6444916" cy="2422312"/>
          </a:xfrm>
        </p:spPr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Model Evaluation Metrics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C8A891-1582-5607-8305-191B88E705F8}"/>
              </a:ext>
            </a:extLst>
          </p:cNvPr>
          <p:cNvGrpSpPr/>
          <p:nvPr/>
        </p:nvGrpSpPr>
        <p:grpSpPr>
          <a:xfrm rot="20859410">
            <a:off x="11001304" y="2835381"/>
            <a:ext cx="529390" cy="985497"/>
            <a:chOff x="9208167" y="1960736"/>
            <a:chExt cx="529390" cy="98549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CE949BE-97BA-1626-C7B1-15AE4B29153F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7D56C6D-AB92-9333-DADF-BECCD70ABAFB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1AE1698-1536-096C-484E-984707DDCF03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0261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2B279-612D-BD82-840D-D78BDD93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1A51D2-6C46-DDA2-8E82-B6F53A15E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Model Evaluation Metrics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6AE73-57D9-0C45-BFE7-6C2F4D7FC4ED}"/>
              </a:ext>
            </a:extLst>
          </p:cNvPr>
          <p:cNvSpPr txBox="1"/>
          <p:nvPr/>
        </p:nvSpPr>
        <p:spPr>
          <a:xfrm>
            <a:off x="9219" y="1821077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/>
              </a:rPr>
              <a:t>1</a:t>
            </a:r>
            <a:endParaRPr lang="en-US" altLang="ko-KR" sz="4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D3BF6B-390C-DA90-8B8C-10F8199A2DE7}"/>
              </a:ext>
            </a:extLst>
          </p:cNvPr>
          <p:cNvSpPr txBox="1"/>
          <p:nvPr/>
        </p:nvSpPr>
        <p:spPr>
          <a:xfrm>
            <a:off x="1107961" y="2036427"/>
            <a:ext cx="509030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Mean Squared Error (MSE)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E919C-0D08-8B3B-98F8-DE262F28DEA2}"/>
              </a:ext>
            </a:extLst>
          </p:cNvPr>
          <p:cNvSpPr txBox="1"/>
          <p:nvPr/>
        </p:nvSpPr>
        <p:spPr>
          <a:xfrm>
            <a:off x="740462" y="2474402"/>
            <a:ext cx="641040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MSE is a regression metric that measures the average of the squared differences between the actual values and predicted values.</a:t>
            </a:r>
            <a:endParaRPr lang="en-US" sz="1400" dirty="0">
              <a:cs typeface="Arial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D218D94-A2A9-F122-50BE-0A1147D92E39}"/>
              </a:ext>
            </a:extLst>
          </p:cNvPr>
          <p:cNvSpPr txBox="1">
            <a:spLocks/>
          </p:cNvSpPr>
          <p:nvPr/>
        </p:nvSpPr>
        <p:spPr>
          <a:xfrm>
            <a:off x="736876" y="3079201"/>
            <a:ext cx="4316730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Key feature:</a:t>
            </a:r>
            <a:endParaRPr lang="en-US" dirty="0">
              <a:ea typeface="+mn-lt"/>
              <a:cs typeface="+mn-lt"/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BBAE230A-CC26-742A-212F-2E1A8DB0CBB3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501A4D77-CED1-6E9F-EB19-262B5E9B406A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2A7E3-369F-5CA0-7665-C9C1AC6C66F1}"/>
              </a:ext>
            </a:extLst>
          </p:cNvPr>
          <p:cNvSpPr txBox="1"/>
          <p:nvPr/>
        </p:nvSpPr>
        <p:spPr>
          <a:xfrm>
            <a:off x="50408" y="3448050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B7984-6B98-3F0D-9680-055AA46F94A1}"/>
              </a:ext>
            </a:extLst>
          </p:cNvPr>
          <p:cNvSpPr txBox="1"/>
          <p:nvPr/>
        </p:nvSpPr>
        <p:spPr>
          <a:xfrm>
            <a:off x="1149150" y="3663400"/>
            <a:ext cx="509030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R²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7FA16D-F382-1B03-07D3-3F213B900B43}"/>
              </a:ext>
            </a:extLst>
          </p:cNvPr>
          <p:cNvSpPr txBox="1"/>
          <p:nvPr/>
        </p:nvSpPr>
        <p:spPr>
          <a:xfrm>
            <a:off x="781651" y="4101375"/>
            <a:ext cx="641040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Measures how well your model explains the variance in the target variable.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Values range from 0 to 1 (sometimes negative if the model is worse than predicting the mean).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9259398-0EF0-9F26-45E9-1737D6092EA2}"/>
              </a:ext>
            </a:extLst>
          </p:cNvPr>
          <p:cNvSpPr txBox="1">
            <a:spLocks/>
          </p:cNvSpPr>
          <p:nvPr/>
        </p:nvSpPr>
        <p:spPr>
          <a:xfrm>
            <a:off x="736876" y="4901823"/>
            <a:ext cx="6087865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Key feature: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16" name="Picture 15" descr="Minimizing r^2 | Kaggle">
            <a:extLst>
              <a:ext uri="{FF2B5EF4-FFF2-40B4-BE49-F238E27FC236}">
                <a16:creationId xmlns:a16="http://schemas.microsoft.com/office/drawing/2014/main" id="{002EC14C-CBE4-ADA0-D48E-347673A61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818" y="3665195"/>
            <a:ext cx="2064609" cy="12369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 descr="The Mean Squared Error function in TensorflowJs">
            <a:extLst>
              <a:ext uri="{FF2B5EF4-FFF2-40B4-BE49-F238E27FC236}">
                <a16:creationId xmlns:a16="http://schemas.microsoft.com/office/drawing/2014/main" id="{D3C688B7-A5A6-DA42-FE84-CF11D9C7C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670" y="2262149"/>
            <a:ext cx="2743199" cy="10156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81B334-9410-7C32-947A-8C95B96892ED}"/>
              </a:ext>
            </a:extLst>
          </p:cNvPr>
          <p:cNvSpPr txBox="1"/>
          <p:nvPr/>
        </p:nvSpPr>
        <p:spPr>
          <a:xfrm>
            <a:off x="5053606" y="3101908"/>
            <a:ext cx="38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0B02C-986F-7F11-7890-61A026F99719}"/>
              </a:ext>
            </a:extLst>
          </p:cNvPr>
          <p:cNvSpPr txBox="1"/>
          <p:nvPr/>
        </p:nvSpPr>
        <p:spPr>
          <a:xfrm>
            <a:off x="6808507" y="4859869"/>
            <a:ext cx="38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42785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657FE-4989-9700-D2B1-2B44EC41E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869B1B-2D77-9B58-67E4-27D85B135D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367" y="2280249"/>
            <a:ext cx="6444916" cy="2422312"/>
          </a:xfrm>
        </p:spPr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Results &amp; Comparison 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7CE7A2-72DA-7701-8EFE-9AD84406A59C}"/>
              </a:ext>
            </a:extLst>
          </p:cNvPr>
          <p:cNvGrpSpPr/>
          <p:nvPr/>
        </p:nvGrpSpPr>
        <p:grpSpPr>
          <a:xfrm rot="20859410">
            <a:off x="11001304" y="2835381"/>
            <a:ext cx="529390" cy="985497"/>
            <a:chOff x="9208167" y="1960736"/>
            <a:chExt cx="529390" cy="98549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1439D67-5B0C-13DB-FEE2-5A9A92930AD9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E963BBC-D1B9-CDBD-B06E-86E674B24178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5F59734-FFCD-A4A4-886A-C3AA89B9D13B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4661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E6148-5D15-8766-CE33-130AE3728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A314D1-E98B-AB57-9A73-40B03743F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Results &amp; Comparison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EE7F246C-8373-B7E0-78F4-0F8F0088CF2B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607C1928-1676-5EC9-B3B7-EA5B3298F757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4" name="Picture 3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5CE310A0-3201-9056-B358-A3A99410E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406" y="1208417"/>
            <a:ext cx="4230360" cy="42973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6460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DA23D-0F78-19B1-D3B8-2D699930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E67586-D6BA-D068-064F-DBB249C431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Results &amp; Comparison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F4242A52-5B90-4823-7298-7FAF6078CECE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A18D0338-D254-1C01-0354-C4A3041FBF1E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2" name="Picture 1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E836B452-EA9E-D198-4BBB-7DEA2C1DE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115" y="1154502"/>
            <a:ext cx="6712789" cy="4419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240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1029-ED08-1476-80E5-F618C86B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A95493-7E6C-D3ED-0E30-368A8AE3A8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Results &amp; Comparison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AB93BB6F-BA77-BCA8-AF7E-9521DE84BE19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52F20953-2B70-4F37-5156-B72C325B548A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2" name="Picture 1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07047972-C8A4-42A5-86B8-D039D3522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380" y="1198901"/>
            <a:ext cx="7230256" cy="44601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249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DA6DE-1D7D-AB15-3BCC-B3A998120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C3F142-7862-9653-074B-658FE1FA4A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Results &amp;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B1B44-D476-5800-53EA-DF9EAA51D379}"/>
              </a:ext>
            </a:extLst>
          </p:cNvPr>
          <p:cNvSpPr txBox="1"/>
          <p:nvPr/>
        </p:nvSpPr>
        <p:spPr>
          <a:xfrm>
            <a:off x="9219" y="1821077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/>
              </a:rPr>
              <a:t>1</a:t>
            </a:r>
            <a:endParaRPr lang="en-US" altLang="ko-KR" sz="4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A1A6E-B31A-1A84-6DA3-F7DF72026D5D}"/>
              </a:ext>
            </a:extLst>
          </p:cNvPr>
          <p:cNvSpPr txBox="1"/>
          <p:nvPr/>
        </p:nvSpPr>
        <p:spPr>
          <a:xfrm>
            <a:off x="1136715" y="2036427"/>
            <a:ext cx="65567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Random Forest achieved higher R²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rPr>
              <a:t>and Lower MSE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9F7A97C9-28CE-316E-9E50-79CC26D2D6E7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A670F4A1-0441-5110-4485-FC1B3D378DDB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441693-939A-656F-CC24-7B2F42276108}"/>
              </a:ext>
            </a:extLst>
          </p:cNvPr>
          <p:cNvSpPr txBox="1"/>
          <p:nvPr/>
        </p:nvSpPr>
        <p:spPr>
          <a:xfrm>
            <a:off x="37916" y="2498673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B7CB0-C4D5-ACDD-96D7-7434E6C63953}"/>
              </a:ext>
            </a:extLst>
          </p:cNvPr>
          <p:cNvSpPr txBox="1"/>
          <p:nvPr/>
        </p:nvSpPr>
        <p:spPr>
          <a:xfrm>
            <a:off x="1136658" y="2714023"/>
            <a:ext cx="509030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Random Forest generalized better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1770E4-1F25-70EF-CFB6-EFF5740A244B}"/>
              </a:ext>
            </a:extLst>
          </p:cNvPr>
          <p:cNvSpPr txBox="1"/>
          <p:nvPr/>
        </p:nvSpPr>
        <p:spPr>
          <a:xfrm>
            <a:off x="719714" y="3432891"/>
            <a:ext cx="821019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DT Cross-Validation (CV) R²: -0.154 ± 0.084 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ea typeface="Arial Unicode MS"/>
              <a:cs typeface="+mn-lt"/>
            </a:endParaRP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RF Cross-Validation (CV) R²: -0.065 ± 0.070 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ea typeface="Arial Unicode MS"/>
              <a:cs typeface="+mn-lt"/>
            </a:endParaRP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Decision Tree Test MSE: 1682896.19, R²: -0.219 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ea typeface="Arial Unicode MS"/>
              <a:cs typeface="+mn-lt"/>
            </a:endParaRP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Random Forest Test MSE: 1414056.92, R²: -0.024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pic>
        <p:nvPicPr>
          <p:cNvPr id="10" name="Picture 9" descr="Result Comparison PowerPoint and Google Slides Template">
            <a:extLst>
              <a:ext uri="{FF2B5EF4-FFF2-40B4-BE49-F238E27FC236}">
                <a16:creationId xmlns:a16="http://schemas.microsoft.com/office/drawing/2014/main" id="{C86B9851-1FC6-6772-4304-A9AB48C6CE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41" t="36115" b="-278"/>
          <a:stretch>
            <a:fillRect/>
          </a:stretch>
        </p:blipFill>
        <p:spPr>
          <a:xfrm>
            <a:off x="8733624" y="2040847"/>
            <a:ext cx="2846028" cy="22716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71358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5CEFE-838E-C399-A40E-E2C829153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6A6CE6-7CD6-638B-43AB-276E551C25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Results &amp; Comparison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EC220278-98B1-B7B8-1FAD-B259EB647405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A052A9AC-80E1-B097-1E2C-5BA15B70D1A2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9" name="Picture 8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4781B6FE-1C3D-9299-18EC-68750334CA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44128" y="1549430"/>
            <a:ext cx="8758686" cy="37591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DE8BD0-FB44-ED69-02C2-39B20D666B9C}"/>
                  </a:ext>
                </a:extLst>
              </p14:cNvPr>
              <p14:cNvContentPartPr/>
              <p14:nvPr/>
            </p14:nvContentPartPr>
            <p14:xfrm>
              <a:off x="4976345" y="1701119"/>
              <a:ext cx="585028" cy="330821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DE8BD0-FB44-ED69-02C2-39B20D666B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8355" y="1683140"/>
                <a:ext cx="620648" cy="3664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FA17F7-FD6C-B997-A611-F8C273CFF784}"/>
                  </a:ext>
                </a:extLst>
              </p14:cNvPr>
              <p14:cNvContentPartPr/>
              <p14:nvPr/>
            </p14:nvContentPartPr>
            <p14:xfrm>
              <a:off x="2690870" y="5816045"/>
              <a:ext cx="859794" cy="148831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FA17F7-FD6C-B997-A611-F8C273CFF7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2875" y="5798114"/>
                <a:ext cx="895424" cy="184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E4AD6C-CFEB-8ACD-DC55-E8DF4CA1DFFD}"/>
                  </a:ext>
                </a:extLst>
              </p14:cNvPr>
              <p14:cNvContentPartPr/>
              <p14:nvPr/>
            </p14:nvContentPartPr>
            <p14:xfrm>
              <a:off x="4381500" y="5613498"/>
              <a:ext cx="895138" cy="183144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E4AD6C-CFEB-8ACD-DC55-E8DF4CA1DF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63504" y="5595543"/>
                <a:ext cx="930771" cy="2186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6795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4E7C-780E-80E7-1F8B-CFEE06C0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946083-49FD-60D4-3B48-050EEAFF67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731CAD5-0B31-CFB3-52D9-204F1182B602}"/>
              </a:ext>
            </a:extLst>
          </p:cNvPr>
          <p:cNvGrpSpPr/>
          <p:nvPr/>
        </p:nvGrpSpPr>
        <p:grpSpPr>
          <a:xfrm>
            <a:off x="9208982" y="3468699"/>
            <a:ext cx="2006603" cy="896255"/>
            <a:chOff x="6683638" y="3478363"/>
            <a:chExt cx="1773386" cy="792088"/>
          </a:xfrm>
          <a:solidFill>
            <a:schemeClr val="accent3"/>
          </a:solidFill>
        </p:grpSpPr>
        <p:sp>
          <p:nvSpPr>
            <p:cNvPr id="31" name="Chevron 7">
              <a:extLst>
                <a:ext uri="{FF2B5EF4-FFF2-40B4-BE49-F238E27FC236}">
                  <a16:creationId xmlns:a16="http://schemas.microsoft.com/office/drawing/2014/main" id="{A9E05340-62A9-0250-D172-85CBF33008D3}"/>
                </a:ext>
              </a:extLst>
            </p:cNvPr>
            <p:cNvSpPr/>
            <p:nvPr/>
          </p:nvSpPr>
          <p:spPr>
            <a:xfrm rot="10800000">
              <a:off x="6683638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Chevron 9">
              <a:extLst>
                <a:ext uri="{FF2B5EF4-FFF2-40B4-BE49-F238E27FC236}">
                  <a16:creationId xmlns:a16="http://schemas.microsoft.com/office/drawing/2014/main" id="{9AC74D71-5BAA-3682-B4AC-132194232E63}"/>
                </a:ext>
              </a:extLst>
            </p:cNvPr>
            <p:cNvSpPr/>
            <p:nvPr/>
          </p:nvSpPr>
          <p:spPr>
            <a:xfrm rot="10800000">
              <a:off x="7880960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4464EFF-C185-62B5-9070-19294670E0DF}"/>
              </a:ext>
            </a:extLst>
          </p:cNvPr>
          <p:cNvGrpSpPr/>
          <p:nvPr/>
        </p:nvGrpSpPr>
        <p:grpSpPr>
          <a:xfrm>
            <a:off x="8684442" y="3976294"/>
            <a:ext cx="896255" cy="2014965"/>
            <a:chOff x="6220062" y="3926963"/>
            <a:chExt cx="792088" cy="1780776"/>
          </a:xfrm>
          <a:solidFill>
            <a:schemeClr val="accent2"/>
          </a:solidFill>
        </p:grpSpPr>
        <p:sp>
          <p:nvSpPr>
            <p:cNvPr id="34" name="Chevron 8">
              <a:extLst>
                <a:ext uri="{FF2B5EF4-FFF2-40B4-BE49-F238E27FC236}">
                  <a16:creationId xmlns:a16="http://schemas.microsoft.com/office/drawing/2014/main" id="{5B5659FB-6C27-9D81-42FC-5F34581C57E0}"/>
                </a:ext>
              </a:extLst>
            </p:cNvPr>
            <p:cNvSpPr/>
            <p:nvPr/>
          </p:nvSpPr>
          <p:spPr>
            <a:xfrm rot="16200000">
              <a:off x="5869734" y="4277291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Chevron 10">
              <a:extLst>
                <a:ext uri="{FF2B5EF4-FFF2-40B4-BE49-F238E27FC236}">
                  <a16:creationId xmlns:a16="http://schemas.microsoft.com/office/drawing/2014/main" id="{10767A98-AA2A-E8C5-42D5-E1BB5266DB97}"/>
                </a:ext>
              </a:extLst>
            </p:cNvPr>
            <p:cNvSpPr/>
            <p:nvPr/>
          </p:nvSpPr>
          <p:spPr>
            <a:xfrm rot="16200000">
              <a:off x="6328074" y="50236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8933AEF-2F40-4D56-937A-C58A5E03E25D}"/>
              </a:ext>
            </a:extLst>
          </p:cNvPr>
          <p:cNvGrpSpPr/>
          <p:nvPr/>
        </p:nvGrpSpPr>
        <p:grpSpPr>
          <a:xfrm>
            <a:off x="7060221" y="3468699"/>
            <a:ext cx="1996530" cy="896255"/>
            <a:chOff x="4784616" y="3478363"/>
            <a:chExt cx="1764484" cy="792088"/>
          </a:xfrm>
          <a:solidFill>
            <a:schemeClr val="accent1"/>
          </a:solidFill>
        </p:grpSpPr>
        <p:sp>
          <p:nvSpPr>
            <p:cNvPr id="37" name="Chevron 5">
              <a:extLst>
                <a:ext uri="{FF2B5EF4-FFF2-40B4-BE49-F238E27FC236}">
                  <a16:creationId xmlns:a16="http://schemas.microsoft.com/office/drawing/2014/main" id="{E107AEA9-A484-8F2B-9E4F-0B0EA0CAC42B}"/>
                </a:ext>
              </a:extLst>
            </p:cNvPr>
            <p:cNvSpPr/>
            <p:nvPr/>
          </p:nvSpPr>
          <p:spPr>
            <a:xfrm>
              <a:off x="5056356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Chevron 11">
              <a:extLst>
                <a:ext uri="{FF2B5EF4-FFF2-40B4-BE49-F238E27FC236}">
                  <a16:creationId xmlns:a16="http://schemas.microsoft.com/office/drawing/2014/main" id="{0035E1C7-B4FC-3A75-0AF8-DEF163BC3835}"/>
                </a:ext>
              </a:extLst>
            </p:cNvPr>
            <p:cNvSpPr/>
            <p:nvPr/>
          </p:nvSpPr>
          <p:spPr>
            <a:xfrm>
              <a:off x="4784616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4F736AA-8A74-78BB-04B2-43294A48F33E}"/>
              </a:ext>
            </a:extLst>
          </p:cNvPr>
          <p:cNvGrpSpPr/>
          <p:nvPr/>
        </p:nvGrpSpPr>
        <p:grpSpPr>
          <a:xfrm>
            <a:off x="8684442" y="1853594"/>
            <a:ext cx="896255" cy="2014965"/>
            <a:chOff x="6220062" y="2050973"/>
            <a:chExt cx="792088" cy="1780776"/>
          </a:xfrm>
          <a:solidFill>
            <a:schemeClr val="accent4"/>
          </a:solidFill>
        </p:grpSpPr>
        <p:sp>
          <p:nvSpPr>
            <p:cNvPr id="40" name="Chevron 6">
              <a:extLst>
                <a:ext uri="{FF2B5EF4-FFF2-40B4-BE49-F238E27FC236}">
                  <a16:creationId xmlns:a16="http://schemas.microsoft.com/office/drawing/2014/main" id="{48F4DD97-5C09-59DF-276D-A355448E942A}"/>
                </a:ext>
              </a:extLst>
            </p:cNvPr>
            <p:cNvSpPr/>
            <p:nvPr/>
          </p:nvSpPr>
          <p:spPr>
            <a:xfrm rot="5400000">
              <a:off x="5869734" y="268933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Chevron 12">
              <a:extLst>
                <a:ext uri="{FF2B5EF4-FFF2-40B4-BE49-F238E27FC236}">
                  <a16:creationId xmlns:a16="http://schemas.microsoft.com/office/drawing/2014/main" id="{8C1DFDA7-B0D6-120C-7898-B51D5EBEA2AF}"/>
                </a:ext>
              </a:extLst>
            </p:cNvPr>
            <p:cNvSpPr/>
            <p:nvPr/>
          </p:nvSpPr>
          <p:spPr>
            <a:xfrm rot="5400000">
              <a:off x="6328074" y="1942961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Rectangle 13">
            <a:extLst>
              <a:ext uri="{FF2B5EF4-FFF2-40B4-BE49-F238E27FC236}">
                <a16:creationId xmlns:a16="http://schemas.microsoft.com/office/drawing/2014/main" id="{F80B7DD6-0776-39FB-5DC9-2CD2C60EA2A5}"/>
              </a:ext>
            </a:extLst>
          </p:cNvPr>
          <p:cNvSpPr/>
          <p:nvPr/>
        </p:nvSpPr>
        <p:spPr>
          <a:xfrm>
            <a:off x="8771519" y="2700867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065CC577-060D-1DA8-4607-084AD9ACD78E}"/>
              </a:ext>
            </a:extLst>
          </p:cNvPr>
          <p:cNvSpPr/>
          <p:nvPr/>
        </p:nvSpPr>
        <p:spPr>
          <a:xfrm>
            <a:off x="7851174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94472DC1-7C92-D43B-04E0-47B831EF347E}"/>
              </a:ext>
            </a:extLst>
          </p:cNvPr>
          <p:cNvSpPr/>
          <p:nvPr/>
        </p:nvSpPr>
        <p:spPr>
          <a:xfrm>
            <a:off x="9692458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W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5" name="Rectangle 16">
            <a:extLst>
              <a:ext uri="{FF2B5EF4-FFF2-40B4-BE49-F238E27FC236}">
                <a16:creationId xmlns:a16="http://schemas.microsoft.com/office/drawing/2014/main" id="{38C31A5C-E225-92BE-D93B-AEB9F06E3CE9}"/>
              </a:ext>
            </a:extLst>
          </p:cNvPr>
          <p:cNvSpPr/>
          <p:nvPr/>
        </p:nvSpPr>
        <p:spPr>
          <a:xfrm>
            <a:off x="8771519" y="4497655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F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F87DDA-B288-6C09-1B3D-D4B25AB1E780}"/>
              </a:ext>
            </a:extLst>
          </p:cNvPr>
          <p:cNvSpPr txBox="1"/>
          <p:nvPr/>
        </p:nvSpPr>
        <p:spPr>
          <a:xfrm>
            <a:off x="850213" y="188063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STRENGTHS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0D5DDB-4A2A-A1BB-2CA1-87C7A85857C5}"/>
              </a:ext>
            </a:extLst>
          </p:cNvPr>
          <p:cNvSpPr txBox="1"/>
          <p:nvPr/>
        </p:nvSpPr>
        <p:spPr>
          <a:xfrm>
            <a:off x="2859287" y="1786368"/>
            <a:ext cx="362943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Well-organized and structured dataset</a:t>
            </a:r>
            <a:endParaRPr lang="en-US" dirty="0"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Suitable for FPGA-based implementation</a:t>
            </a:r>
            <a:endParaRPr lang="en-US" dirty="0">
              <a:cs typeface="Arial"/>
            </a:endParaRPr>
          </a:p>
        </p:txBody>
      </p:sp>
      <p:sp>
        <p:nvSpPr>
          <p:cNvPr id="48" name="Chevron 25">
            <a:extLst>
              <a:ext uri="{FF2B5EF4-FFF2-40B4-BE49-F238E27FC236}">
                <a16:creationId xmlns:a16="http://schemas.microsoft.com/office/drawing/2014/main" id="{2FA6FE3C-F7B8-1EE5-F955-C8F84D775CFE}"/>
              </a:ext>
            </a:extLst>
          </p:cNvPr>
          <p:cNvSpPr/>
          <p:nvPr/>
        </p:nvSpPr>
        <p:spPr>
          <a:xfrm>
            <a:off x="2474703" y="1920773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B6299A-645C-C79C-9A7F-09445292DD4B}"/>
              </a:ext>
            </a:extLst>
          </p:cNvPr>
          <p:cNvSpPr txBox="1"/>
          <p:nvPr/>
        </p:nvSpPr>
        <p:spPr>
          <a:xfrm>
            <a:off x="850213" y="308875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3"/>
                </a:solidFill>
                <a:cs typeface="Arial" pitchFamily="34" charset="0"/>
              </a:rPr>
              <a:t>WEAKNESS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9258DD-F93C-4034-481A-3A2AC0DDF5D5}"/>
              </a:ext>
            </a:extLst>
          </p:cNvPr>
          <p:cNvSpPr txBox="1"/>
          <p:nvPr/>
        </p:nvSpPr>
        <p:spPr>
          <a:xfrm>
            <a:off x="2859287" y="3086854"/>
            <a:ext cx="362943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ea typeface="+mn-lt"/>
                <a:cs typeface="+mn-lt"/>
              </a:rPr>
              <a:t>Model performance depends strongly on data quality</a:t>
            </a:r>
            <a:endParaRPr lang="en-US" dirty="0">
              <a:cs typeface="Arial"/>
            </a:endParaRPr>
          </a:p>
        </p:txBody>
      </p:sp>
      <p:sp>
        <p:nvSpPr>
          <p:cNvPr id="51" name="Chevron 26">
            <a:extLst>
              <a:ext uri="{FF2B5EF4-FFF2-40B4-BE49-F238E27FC236}">
                <a16:creationId xmlns:a16="http://schemas.microsoft.com/office/drawing/2014/main" id="{D34A7C59-0FBA-F727-0114-E439D49F47C6}"/>
              </a:ext>
            </a:extLst>
          </p:cNvPr>
          <p:cNvSpPr/>
          <p:nvPr/>
        </p:nvSpPr>
        <p:spPr>
          <a:xfrm>
            <a:off x="2480645" y="3127474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757AD2-2252-1F8E-ABC4-C59F05050AC8}"/>
              </a:ext>
            </a:extLst>
          </p:cNvPr>
          <p:cNvSpPr txBox="1"/>
          <p:nvPr/>
        </p:nvSpPr>
        <p:spPr>
          <a:xfrm>
            <a:off x="850213" y="4296878"/>
            <a:ext cx="1513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Future Work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6B5FA2-5BA8-A1F3-2D13-99B836BA2465}"/>
              </a:ext>
            </a:extLst>
          </p:cNvPr>
          <p:cNvSpPr txBox="1"/>
          <p:nvPr/>
        </p:nvSpPr>
        <p:spPr>
          <a:xfrm>
            <a:off x="2859287" y="4199770"/>
            <a:ext cx="362943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defTabSz="91440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Finalize ML environment</a:t>
            </a:r>
            <a:endParaRPr lang="en-US" dirty="0">
              <a:cs typeface="Arial"/>
            </a:endParaRPr>
          </a:p>
          <a:p>
            <a:pPr marL="171450" indent="-171450" defTabSz="91440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Prepare and implement model on FPGA</a:t>
            </a:r>
            <a:endParaRPr lang="en-US" dirty="0">
              <a:cs typeface="Arial"/>
            </a:endParaRPr>
          </a:p>
          <a:p>
            <a:pPr marL="171450" lvl="0" indent="-171450" defTabSz="9144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altLang="en-US" sz="1200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54" name="Chevron 27">
            <a:extLst>
              <a:ext uri="{FF2B5EF4-FFF2-40B4-BE49-F238E27FC236}">
                <a16:creationId xmlns:a16="http://schemas.microsoft.com/office/drawing/2014/main" id="{C7C3E991-C2F0-67BC-F150-FAA3C221E4F1}"/>
              </a:ext>
            </a:extLst>
          </p:cNvPr>
          <p:cNvSpPr/>
          <p:nvPr/>
        </p:nvSpPr>
        <p:spPr>
          <a:xfrm>
            <a:off x="2486587" y="4334175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2F86D6-A262-93F8-E4AF-54F9C4124FE6}"/>
              </a:ext>
            </a:extLst>
          </p:cNvPr>
          <p:cNvSpPr txBox="1"/>
          <p:nvPr/>
        </p:nvSpPr>
        <p:spPr>
          <a:xfrm>
            <a:off x="850213" y="5299753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1"/>
                </a:solidFill>
                <a:cs typeface="Arial" pitchFamily="34" charset="0"/>
              </a:rPr>
              <a:t>Summary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9EFBE5-7986-035C-49AE-B33547E0097D}"/>
              </a:ext>
            </a:extLst>
          </p:cNvPr>
          <p:cNvSpPr txBox="1"/>
          <p:nvPr/>
        </p:nvSpPr>
        <p:spPr>
          <a:xfrm>
            <a:off x="2859287" y="5214325"/>
            <a:ext cx="362943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Built and evaluated Decision Tree and Random Forest models for crop yield prediction</a:t>
            </a:r>
            <a:endParaRPr lang="en-US" dirty="0">
              <a:cs typeface="Arial"/>
            </a:endParaRPr>
          </a:p>
        </p:txBody>
      </p:sp>
      <p:sp>
        <p:nvSpPr>
          <p:cNvPr id="57" name="Chevron 28">
            <a:extLst>
              <a:ext uri="{FF2B5EF4-FFF2-40B4-BE49-F238E27FC236}">
                <a16:creationId xmlns:a16="http://schemas.microsoft.com/office/drawing/2014/main" id="{7BE69C58-FA8C-467A-DD20-C522D0ECFFA1}"/>
              </a:ext>
            </a:extLst>
          </p:cNvPr>
          <p:cNvSpPr/>
          <p:nvPr/>
        </p:nvSpPr>
        <p:spPr>
          <a:xfrm>
            <a:off x="2492529" y="5339889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79EEF9-9D71-8E4D-673C-947CB73E6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automation of irrigation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03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53CD0-6591-7A50-7822-CEDCC5EB0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061C2B-F1A9-E648-548B-84F394C7C1C7}"/>
              </a:ext>
            </a:extLst>
          </p:cNvPr>
          <p:cNvSpPr txBox="1"/>
          <p:nvPr/>
        </p:nvSpPr>
        <p:spPr>
          <a:xfrm>
            <a:off x="0" y="1395672"/>
            <a:ext cx="3188367" cy="707886"/>
          </a:xfrm>
          <a:prstGeom prst="rect">
            <a:avLst/>
          </a:prstGeom>
          <a:noFill/>
        </p:spPr>
        <p:txBody>
          <a:bodyPr wrap="square" lIns="274320" tIns="45720" rIns="91440" bIns="45720" rtlCol="0" anchor="ctr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cs typeface="Arial"/>
              </a:rPr>
              <a:t>References</a:t>
            </a:r>
            <a:endParaRPr lang="en-US" sz="4000" dirty="0">
              <a:solidFill>
                <a:schemeClr val="bg1"/>
              </a:solidFill>
              <a:cs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47354A-A4AB-9573-AB5B-63B5F09C56A6}"/>
              </a:ext>
            </a:extLst>
          </p:cNvPr>
          <p:cNvGrpSpPr/>
          <p:nvPr/>
        </p:nvGrpSpPr>
        <p:grpSpPr>
          <a:xfrm>
            <a:off x="3968164" y="548875"/>
            <a:ext cx="6186490" cy="849769"/>
            <a:chOff x="4745820" y="1491808"/>
            <a:chExt cx="6186490" cy="84976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A073F38-4EE0-A769-D090-163479E4E1BF}"/>
                </a:ext>
              </a:extLst>
            </p:cNvPr>
            <p:cNvGrpSpPr/>
            <p:nvPr/>
          </p:nvGrpSpPr>
          <p:grpSpPr>
            <a:xfrm>
              <a:off x="5816084" y="1695246"/>
              <a:ext cx="5116226" cy="646331"/>
              <a:chOff x="6341430" y="1625076"/>
              <a:chExt cx="5116226" cy="64633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7AF996-1DC3-3C93-0502-6C2B742B316B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A50D8C-EEB2-6F59-DBF4-324FEEEC8073}"/>
                  </a:ext>
                </a:extLst>
              </p:cNvPr>
              <p:cNvSpPr txBox="1"/>
              <p:nvPr/>
            </p:nvSpPr>
            <p:spPr>
              <a:xfrm>
                <a:off x="6341430" y="1625076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dirty="0">
                    <a:ea typeface="+mn-lt"/>
                    <a:cs typeface="+mn-lt"/>
                    <a:hlinkClick r:id="rId3"/>
                  </a:rPr>
                  <a:t>https://medium.com/@abhishekjainindore24/everything-about-random-forest-90c106d63989</a:t>
                </a:r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087BA2-DA5A-8E8A-639B-614B7195EEBD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2B4EDC2-841E-8B05-4229-FEAC95EBC5B8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6A9CB5-D350-1501-8B6C-0AD4BED4ABAE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D3120E-0E0B-8721-4319-5F2F2885EDC8}"/>
              </a:ext>
            </a:extLst>
          </p:cNvPr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648B6E-926E-3B37-599E-17360683DE18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B384F67-25E1-4660-8FEF-9244E8C92651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6C3138-9905-4962-14B6-178DC18EEB6D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0E9641D-DDED-AADB-49DC-C8C551456F8E}"/>
              </a:ext>
            </a:extLst>
          </p:cNvPr>
          <p:cNvGrpSpPr/>
          <p:nvPr/>
        </p:nvGrpSpPr>
        <p:grpSpPr>
          <a:xfrm>
            <a:off x="3964152" y="1402582"/>
            <a:ext cx="6186490" cy="1815882"/>
            <a:chOff x="4745820" y="1098242"/>
            <a:chExt cx="6186490" cy="181588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5945142-9DB1-AF61-2D8F-94896285D097}"/>
                </a:ext>
              </a:extLst>
            </p:cNvPr>
            <p:cNvGrpSpPr/>
            <p:nvPr/>
          </p:nvGrpSpPr>
          <p:grpSpPr>
            <a:xfrm>
              <a:off x="5725255" y="1098242"/>
              <a:ext cx="5207055" cy="1815882"/>
              <a:chOff x="6250601" y="1028072"/>
              <a:chExt cx="5207055" cy="181588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137189-AEF4-D223-FDF5-5947B09D6E0E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305776-CEA6-6FA0-1DA0-7D9F99F6A57F}"/>
                  </a:ext>
                </a:extLst>
              </p:cNvPr>
              <p:cNvSpPr txBox="1"/>
              <p:nvPr/>
            </p:nvSpPr>
            <p:spPr>
              <a:xfrm>
                <a:off x="6250601" y="1028072"/>
                <a:ext cx="5077659" cy="181588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endParaRPr lang="en-US" sz="1600" dirty="0">
                  <a:cs typeface="Arial"/>
                </a:endParaRPr>
              </a:p>
              <a:p>
                <a:endParaRPr lang="en-US" sz="1600" dirty="0">
                  <a:cs typeface="Arial"/>
                </a:endParaRPr>
              </a:p>
              <a:p>
                <a:r>
                  <a:rPr lang="en-US" sz="1600" dirty="0">
                    <a:hlinkClick r:id="rId4"/>
                  </a:rPr>
                  <a:t>https://mlkeww00jjj8.i.optimole.com/cb:_P4T.27e/w:380/h:422/q:mauto/f:best/https://www.displayr.com/wp-content/uploads/2018/07/what-is-a-decision-tree.png</a:t>
                </a:r>
                <a:endParaRPr lang="en-US" sz="1600" dirty="0">
                  <a:cs typeface="Arial"/>
                </a:endParaRPr>
              </a:p>
              <a:p>
                <a:pPr algn="ctr"/>
                <a:endParaRPr lang="en-US" sz="1600" dirty="0">
                  <a:cs typeface="Arial"/>
                </a:endParaRPr>
              </a:p>
              <a:p>
                <a:endParaRPr lang="en-US" sz="1600" b="1" dirty="0">
                  <a:cs typeface="Arial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AE08AEE-7A3C-3E54-B035-F767216E77AF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61080F3-2CC4-F1C5-72A9-08C893F4BEF8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55BB04-2E99-5001-B8F0-C1ED5B37DD43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A467C89-A61D-D96A-2033-BCDA4DA5FFBF}"/>
              </a:ext>
            </a:extLst>
          </p:cNvPr>
          <p:cNvGrpSpPr/>
          <p:nvPr/>
        </p:nvGrpSpPr>
        <p:grpSpPr>
          <a:xfrm>
            <a:off x="3960140" y="3043421"/>
            <a:ext cx="6186490" cy="1030690"/>
            <a:chOff x="4745820" y="1491808"/>
            <a:chExt cx="6186490" cy="103069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E2AF60E-309F-F699-6C9D-269A3AAF5E96}"/>
                </a:ext>
              </a:extLst>
            </p:cNvPr>
            <p:cNvGrpSpPr/>
            <p:nvPr/>
          </p:nvGrpSpPr>
          <p:grpSpPr>
            <a:xfrm>
              <a:off x="5837992" y="1599168"/>
              <a:ext cx="5094318" cy="923330"/>
              <a:chOff x="6363338" y="1528998"/>
              <a:chExt cx="5094318" cy="923330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02850C-EF9E-9CA1-153D-7FF7556AA97C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643B2A7-2499-C364-04C9-F602CFD471E9}"/>
                  </a:ext>
                </a:extLst>
              </p:cNvPr>
              <p:cNvSpPr txBox="1"/>
              <p:nvPr/>
            </p:nvSpPr>
            <p:spPr>
              <a:xfrm>
                <a:off x="6363338" y="1528998"/>
                <a:ext cx="5092036" cy="923330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u="sng" dirty="0">
                    <a:ea typeface="+mn-lt"/>
                    <a:cs typeface="+mn-lt"/>
                  </a:rPr>
                  <a:t>Dataset:</a:t>
                </a:r>
                <a:r>
                  <a:rPr lang="en-US" u="sng" dirty="0">
                    <a:ea typeface="+mn-lt"/>
                    <a:cs typeface="+mn-lt"/>
                    <a:hlinkClick r:id="rId5"/>
                  </a:rPr>
                  <a:t>https://www.kaggle.com/datasets/atharvasoundankar/smart-farming-sensor-data-for-yield-prediction/data</a:t>
                </a:r>
                <a:endParaRPr lang="en-US" u="sng" dirty="0">
                  <a:ea typeface="+mn-lt"/>
                  <a:cs typeface="+mn-lt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6FBC15-55DE-7489-B114-6275B22478B7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3CEF778-24A3-518B-AB1D-895A1F07D7DA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A3962E0-82E0-6C8A-33C5-323F13E29D24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776616-8110-BF85-A12D-C28EF0219CE2}"/>
              </a:ext>
            </a:extLst>
          </p:cNvPr>
          <p:cNvGrpSpPr/>
          <p:nvPr/>
        </p:nvGrpSpPr>
        <p:grpSpPr>
          <a:xfrm>
            <a:off x="3956128" y="4290694"/>
            <a:ext cx="6210680" cy="854333"/>
            <a:chOff x="4745820" y="1491808"/>
            <a:chExt cx="6210680" cy="85433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73076A8-D7BF-29AF-0AA6-695D4D02C56B}"/>
                </a:ext>
              </a:extLst>
            </p:cNvPr>
            <p:cNvGrpSpPr/>
            <p:nvPr/>
          </p:nvGrpSpPr>
          <p:grpSpPr>
            <a:xfrm>
              <a:off x="5840274" y="1699810"/>
              <a:ext cx="5116226" cy="646331"/>
              <a:chOff x="6365620" y="1629640"/>
              <a:chExt cx="5116226" cy="64633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6EDE63-AA07-CD70-9151-622C4231BBBC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41005FD-D917-D1A9-5BB7-42B9C757C5FC}"/>
                  </a:ext>
                </a:extLst>
              </p:cNvPr>
              <p:cNvSpPr txBox="1"/>
              <p:nvPr/>
            </p:nvSpPr>
            <p:spPr>
              <a:xfrm>
                <a:off x="6389810" y="1629640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u="sng" dirty="0">
                    <a:ea typeface="+mn-lt"/>
                    <a:cs typeface="+mn-lt"/>
                    <a:hlinkClick r:id="rId6"/>
                  </a:rPr>
                  <a:t>Code:https://www.kaggle.com/code/adityaver/unit-5</a:t>
                </a:r>
                <a:endParaRPr lang="en-US" u="sng" dirty="0">
                  <a:ea typeface="+mn-lt"/>
                  <a:cs typeface="+mn-lt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7554A4F-999E-4AF2-1CED-429F4C252CBF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FC7699A-7C88-5BC3-8B27-B9B26BB883E8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A8FACFD-DAB4-2B18-BE7D-50BEF4E28E22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D7ED654-0EEF-4624-0BB7-9EF2672C03D6}"/>
              </a:ext>
            </a:extLst>
          </p:cNvPr>
          <p:cNvGrpSpPr/>
          <p:nvPr/>
        </p:nvGrpSpPr>
        <p:grpSpPr>
          <a:xfrm>
            <a:off x="3952116" y="5537967"/>
            <a:ext cx="6186490" cy="780795"/>
            <a:chOff x="4745820" y="1491808"/>
            <a:chExt cx="6186490" cy="78079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0BE19D-5B5C-68E7-E915-EEA1B2AD8031}"/>
                </a:ext>
              </a:extLst>
            </p:cNvPr>
            <p:cNvSpPr txBox="1"/>
            <p:nvPr/>
          </p:nvSpPr>
          <p:spPr>
            <a:xfrm>
              <a:off x="5840274" y="1687715"/>
              <a:ext cx="5092036" cy="369332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r>
                <a:rPr lang="en-US" u="sng" dirty="0">
                  <a:ea typeface="+mn-lt"/>
                  <a:cs typeface="+mn-lt"/>
                  <a:hlinkClick r:id="rId7"/>
                </a:rPr>
                <a:t>https://en.wikipedia.org/wiki/Random_forest</a:t>
              </a:r>
              <a:endParaRPr lang="en-US" u="sng" dirty="0">
                <a:cs typeface="Arial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C886564-5D29-C600-9EDA-B60E3EBB9A5B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40DCAC5-5973-8CFF-1E1F-FCB583455CFA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DD6FA45-450A-E0CC-6378-4B8B22E258D8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3842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cs typeface="Arial"/>
              </a:rPr>
              <a:t>Thank you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Any Questions?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20366" y="531518"/>
            <a:ext cx="332876" cy="619674"/>
            <a:chOff x="9208167" y="1960735"/>
            <a:chExt cx="529390" cy="985499"/>
          </a:xfrm>
        </p:grpSpPr>
        <p:sp>
          <p:nvSpPr>
            <p:cNvPr id="5" name="Oval 4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F8CF34"/>
      </a:accent2>
      <a:accent3>
        <a:srgbClr val="E6524B"/>
      </a:accent3>
      <a:accent4>
        <a:srgbClr val="39B54A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PLANT 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00BFF3"/>
      </a:accent2>
      <a:accent3>
        <a:srgbClr val="00BFF3"/>
      </a:accent3>
      <a:accent4>
        <a:srgbClr val="00BFF3"/>
      </a:accent4>
      <a:accent5>
        <a:srgbClr val="00BFF3"/>
      </a:accent5>
      <a:accent6>
        <a:srgbClr val="00BFF3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B54A"/>
      </a:accent1>
      <a:accent2>
        <a:srgbClr val="F8CF34"/>
      </a:accent2>
      <a:accent3>
        <a:srgbClr val="E6524B"/>
      </a:accent3>
      <a:accent4>
        <a:srgbClr val="00BFF3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2960</TotalTime>
  <Words>1110</Words>
  <Application>Microsoft Office PowerPoint</Application>
  <PresentationFormat>Widescreen</PresentationFormat>
  <Paragraphs>177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맑은 고딕</vt:lpstr>
      <vt:lpstr>Aptos</vt:lpstr>
      <vt:lpstr>Arial</vt:lpstr>
      <vt:lpstr>Arial Unicode MS</vt:lpstr>
      <vt:lpstr>Calibri</vt:lpstr>
      <vt:lpstr>Courier New</vt:lpstr>
      <vt:lpstr>Courier New,monospace</vt:lpstr>
      <vt:lpstr>Cover and End Slide Master</vt:lpstr>
      <vt:lpstr>Contents Slide Master</vt:lpstr>
      <vt:lpstr>Section Break Slide Master</vt:lpstr>
      <vt:lpstr>Crop Yield Prediction Using Decision Tree and Random Forest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aliadel_77@outlook.com</cp:lastModifiedBy>
  <cp:revision>685</cp:revision>
  <dcterms:created xsi:type="dcterms:W3CDTF">2018-04-24T17:14:44Z</dcterms:created>
  <dcterms:modified xsi:type="dcterms:W3CDTF">2026-02-05T12:57:45Z</dcterms:modified>
</cp:coreProperties>
</file>